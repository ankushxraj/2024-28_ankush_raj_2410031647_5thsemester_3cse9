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919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-56387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0" y="0"/>
            <a:ext cx="3794700" cy="6858000"/>
          </a:xfrm>
          <a:prstGeom prst="rect">
            <a:avLst/>
          </a:prstGeom>
          <a:solidFill>
            <a:srgbClr val="18275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0" y="5074920"/>
            <a:ext cx="2423160" cy="2423160"/>
          </a:xfrm>
          <a:prstGeom prst="roundRect">
            <a:avLst>
              <a:gd fmla="val 16667" name="adj"/>
            </a:avLst>
          </a:prstGeom>
          <a:solidFill>
            <a:srgbClr val="1F347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/>
          <p:nvPr/>
        </p:nvSpPr>
        <p:spPr>
          <a:xfrm>
            <a:off x="2514600" y="502920"/>
            <a:ext cx="960120" cy="960120"/>
          </a:xfrm>
          <a:prstGeom prst="roundRect">
            <a:avLst>
              <a:gd fmla="val 16667" name="adj"/>
            </a:avLst>
          </a:prstGeom>
          <a:solidFill>
            <a:srgbClr val="1F347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/>
          <p:nvPr/>
        </p:nvSpPr>
        <p:spPr>
          <a:xfrm>
            <a:off x="594360" y="868680"/>
            <a:ext cx="594360" cy="594360"/>
          </a:xfrm>
          <a:prstGeom prst="roundRect">
            <a:avLst>
              <a:gd fmla="val 16667" name="adj"/>
            </a:avLst>
          </a:prstGeom>
          <a:solidFill>
            <a:srgbClr val="1F347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1233300" y="764438"/>
            <a:ext cx="1951800" cy="5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IILM UNIVERSITY,</a:t>
            </a:r>
            <a:b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GREATER NOIDA</a:t>
            </a:r>
            <a:endParaRPr sz="1700"/>
          </a:p>
        </p:txBody>
      </p:sp>
      <p:sp>
        <p:nvSpPr>
          <p:cNvPr id="90" name="Google Shape;90;p13"/>
          <p:cNvSpPr txBox="1"/>
          <p:nvPr/>
        </p:nvSpPr>
        <p:spPr>
          <a:xfrm>
            <a:off x="548640" y="1965960"/>
            <a:ext cx="278892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CISCO</a:t>
            </a:r>
            <a:br>
              <a:rPr b="1" i="0" lang="en-US" sz="25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b="1" i="0" lang="en-US" sz="25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NETWORKING</a:t>
            </a:r>
            <a:br>
              <a:rPr b="1" i="0" lang="en-US" sz="25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b="1" i="0" lang="en-US" sz="25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ACADEMY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4434840" y="1097280"/>
            <a:ext cx="69494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8275B"/>
                </a:solidFill>
                <a:latin typeface="Georgia"/>
                <a:ea typeface="Georgia"/>
                <a:cs typeface="Georgia"/>
                <a:sym typeface="Georgia"/>
              </a:rPr>
              <a:t>TRAINING REPORT</a:t>
            </a:r>
            <a:br>
              <a:rPr b="1" i="0" lang="en-US" sz="2700" u="none" cap="none" strike="noStrike">
                <a:solidFill>
                  <a:srgbClr val="18275B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b="1" i="0" lang="en-US" sz="2700" u="none" cap="none" strike="noStrike">
                <a:solidFill>
                  <a:srgbClr val="18275B"/>
                </a:solidFill>
                <a:latin typeface="Georgia"/>
                <a:ea typeface="Georgia"/>
                <a:cs typeface="Georgia"/>
                <a:sym typeface="Georgia"/>
              </a:rPr>
              <a:t>PRESENTATION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4462272" y="2148840"/>
            <a:ext cx="6675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Networking Basics  •  Introduction to Cybersecurity</a:t>
            </a:r>
            <a:br>
              <a:rPr b="0" i="0" lang="en-US" sz="150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50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Introduction to IoT &amp; Digital Transformation</a:t>
            </a:r>
            <a:endParaRPr/>
          </a:p>
        </p:txBody>
      </p:sp>
      <p:sp>
        <p:nvSpPr>
          <p:cNvPr id="93" name="Google Shape;93;p13"/>
          <p:cNvSpPr/>
          <p:nvPr/>
        </p:nvSpPr>
        <p:spPr>
          <a:xfrm>
            <a:off x="4462272" y="3063240"/>
            <a:ext cx="3154680" cy="310896"/>
          </a:xfrm>
          <a:prstGeom prst="roundRect">
            <a:avLst>
              <a:gd fmla="val 16667" name="adj"/>
            </a:avLst>
          </a:prstGeom>
          <a:solidFill>
            <a:srgbClr val="DCE4F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3"/>
          <p:cNvSpPr txBox="1"/>
          <p:nvPr/>
        </p:nvSpPr>
        <p:spPr>
          <a:xfrm>
            <a:off x="4480559" y="3072384"/>
            <a:ext cx="3118104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18275B"/>
                </a:solidFill>
                <a:latin typeface="Arial"/>
                <a:ea typeface="Arial"/>
                <a:cs typeface="Arial"/>
                <a:sym typeface="Arial"/>
              </a:rPr>
              <a:t>B.Tech CSE  •  5th Semester  •  3CSE9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4462272" y="3730752"/>
            <a:ext cx="4114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232A3A"/>
                </a:solidFill>
                <a:latin typeface="Arial"/>
                <a:ea typeface="Arial"/>
                <a:cs typeface="Arial"/>
                <a:sym typeface="Arial"/>
              </a:rPr>
              <a:t>ANKUSH RAJ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4462272" y="4233672"/>
            <a:ext cx="45720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Roll No. 2410031647</a:t>
            </a:r>
            <a:br>
              <a:rPr b="0" i="0" lang="en-US" sz="115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5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Batch 2024–2028</a:t>
            </a:r>
            <a:br>
              <a:rPr b="0" i="0" lang="en-US" sz="115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5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IILM University, Greater Noida, U.P.</a:t>
            </a:r>
            <a:endParaRPr/>
          </a:p>
        </p:txBody>
      </p:sp>
      <p:sp>
        <p:nvSpPr>
          <p:cNvPr id="97" name="Google Shape;97;p13"/>
          <p:cNvSpPr txBox="1"/>
          <p:nvPr/>
        </p:nvSpPr>
        <p:spPr>
          <a:xfrm>
            <a:off x="4462272" y="5559552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E0B02C"/>
                </a:solidFill>
                <a:latin typeface="Arial"/>
                <a:ea typeface="Arial"/>
                <a:cs typeface="Arial"/>
                <a:sym typeface="Arial"/>
              </a:rPr>
              <a:t>COURSE COMPLETION DATES  •  JUNE 2026</a:t>
            </a:r>
            <a:endParaRPr/>
          </a:p>
        </p:txBody>
      </p:sp>
      <p:sp>
        <p:nvSpPr>
          <p:cNvPr id="98" name="Google Shape;98;p13"/>
          <p:cNvSpPr txBox="1"/>
          <p:nvPr/>
        </p:nvSpPr>
        <p:spPr>
          <a:xfrm>
            <a:off x="457200" y="6473952"/>
            <a:ext cx="6858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Cisco Networking Academy Training  •  Ankush Raj</a:t>
            </a:r>
            <a:endParaRPr/>
          </a:p>
        </p:txBody>
      </p:sp>
      <p:sp>
        <p:nvSpPr>
          <p:cNvPr id="99" name="Google Shape;99;p13"/>
          <p:cNvSpPr txBox="1"/>
          <p:nvPr/>
        </p:nvSpPr>
        <p:spPr>
          <a:xfrm>
            <a:off x="11247120" y="6428232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pic>
        <p:nvPicPr>
          <p:cNvPr id="100" name="Google Shape;100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5225" y="582938"/>
            <a:ext cx="819150" cy="80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4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EFF3F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4"/>
          <p:cNvSpPr txBox="1"/>
          <p:nvPr/>
        </p:nvSpPr>
        <p:spPr>
          <a:xfrm>
            <a:off x="594360" y="347472"/>
            <a:ext cx="4114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E0B02C"/>
                </a:solidFill>
                <a:latin typeface="Arial"/>
                <a:ea typeface="Arial"/>
                <a:cs typeface="Arial"/>
                <a:sym typeface="Arial"/>
              </a:rPr>
              <a:t>ABOUT THE STUDENT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8275B"/>
                </a:solidFill>
                <a:latin typeface="Georgia"/>
                <a:ea typeface="Georgia"/>
                <a:cs typeface="Georgia"/>
                <a:sym typeface="Georgia"/>
              </a:rPr>
              <a:t>Candidate Profile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621792" y="1280160"/>
            <a:ext cx="10789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Academic and training details</a:t>
            </a:r>
            <a:endParaRPr/>
          </a:p>
        </p:txBody>
      </p:sp>
      <p:sp>
        <p:nvSpPr>
          <p:cNvPr id="109" name="Google Shape;109;p14"/>
          <p:cNvSpPr/>
          <p:nvPr/>
        </p:nvSpPr>
        <p:spPr>
          <a:xfrm>
            <a:off x="594360" y="1828800"/>
            <a:ext cx="2880360" cy="4160520"/>
          </a:xfrm>
          <a:prstGeom prst="roundRect">
            <a:avLst>
              <a:gd fmla="val 16667" name="adj"/>
            </a:avLst>
          </a:prstGeom>
          <a:solidFill>
            <a:srgbClr val="18275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868680" y="2395728"/>
            <a:ext cx="21945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ANKUSH</a:t>
            </a:r>
            <a:br>
              <a:rPr b="1" i="0" lang="en-US" sz="27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b="1" i="0" lang="en-US" sz="27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RAJ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868680" y="3547872"/>
            <a:ext cx="21031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B.Tech – Computer Science</a:t>
            </a:r>
            <a:b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&amp; Engineering</a:t>
            </a:r>
            <a:endParaRPr/>
          </a:p>
        </p:txBody>
      </p:sp>
      <p:sp>
        <p:nvSpPr>
          <p:cNvPr id="112" name="Google Shape;112;p14"/>
          <p:cNvSpPr/>
          <p:nvPr/>
        </p:nvSpPr>
        <p:spPr>
          <a:xfrm>
            <a:off x="868680" y="4462272"/>
            <a:ext cx="1965960" cy="310896"/>
          </a:xfrm>
          <a:prstGeom prst="roundRect">
            <a:avLst>
              <a:gd fmla="val 16667" name="adj"/>
            </a:avLst>
          </a:prstGeom>
          <a:solidFill>
            <a:srgbClr val="1F347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4"/>
          <p:cNvSpPr txBox="1"/>
          <p:nvPr/>
        </p:nvSpPr>
        <p:spPr>
          <a:xfrm>
            <a:off x="886968" y="4471416"/>
            <a:ext cx="1929384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5th Semester  •  3CSE9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868680" y="507492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0B02C"/>
                </a:solidFill>
                <a:latin typeface="Arial"/>
                <a:ea typeface="Arial"/>
                <a:cs typeface="Arial"/>
                <a:sym typeface="Arial"/>
              </a:rPr>
              <a:t>2410031647</a:t>
            </a:r>
            <a:endParaRPr/>
          </a:p>
        </p:txBody>
      </p:sp>
      <p:sp>
        <p:nvSpPr>
          <p:cNvPr id="115" name="Google Shape;115;p14"/>
          <p:cNvSpPr/>
          <p:nvPr/>
        </p:nvSpPr>
        <p:spPr>
          <a:xfrm>
            <a:off x="3886200" y="1847088"/>
            <a:ext cx="7635240" cy="768096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AE0E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4"/>
          <p:cNvSpPr/>
          <p:nvPr/>
        </p:nvSpPr>
        <p:spPr>
          <a:xfrm>
            <a:off x="4050791" y="2002536"/>
            <a:ext cx="411480" cy="411480"/>
          </a:xfrm>
          <a:prstGeom prst="roundRect">
            <a:avLst>
              <a:gd fmla="val 16667" name="adj"/>
            </a:avLst>
          </a:prstGeom>
          <a:solidFill>
            <a:srgbClr val="18275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4"/>
          <p:cNvSpPr txBox="1"/>
          <p:nvPr/>
        </p:nvSpPr>
        <p:spPr>
          <a:xfrm>
            <a:off x="4050791" y="2002536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18" name="Google Shape;118;p14"/>
          <p:cNvSpPr txBox="1"/>
          <p:nvPr/>
        </p:nvSpPr>
        <p:spPr>
          <a:xfrm>
            <a:off x="4599432" y="1993392"/>
            <a:ext cx="6739127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32A3A"/>
                </a:solidFill>
                <a:latin typeface="Arial"/>
                <a:ea typeface="Arial"/>
                <a:cs typeface="Arial"/>
                <a:sym typeface="Arial"/>
              </a:rPr>
              <a:t>Institute</a:t>
            </a:r>
            <a:endParaRPr/>
          </a:p>
        </p:txBody>
      </p:sp>
      <p:sp>
        <p:nvSpPr>
          <p:cNvPr id="119" name="Google Shape;119;p14"/>
          <p:cNvSpPr txBox="1"/>
          <p:nvPr/>
        </p:nvSpPr>
        <p:spPr>
          <a:xfrm>
            <a:off x="4599432" y="2414016"/>
            <a:ext cx="6739127" cy="73151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IILM University, Greater Noida, U.P.</a:t>
            </a:r>
            <a:endParaRPr/>
          </a:p>
        </p:txBody>
      </p:sp>
      <p:sp>
        <p:nvSpPr>
          <p:cNvPr id="120" name="Google Shape;120;p14"/>
          <p:cNvSpPr/>
          <p:nvPr/>
        </p:nvSpPr>
        <p:spPr>
          <a:xfrm>
            <a:off x="3886200" y="2788920"/>
            <a:ext cx="7635240" cy="768096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AE0E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4"/>
          <p:cNvSpPr/>
          <p:nvPr/>
        </p:nvSpPr>
        <p:spPr>
          <a:xfrm>
            <a:off x="4050791" y="2944368"/>
            <a:ext cx="411480" cy="411480"/>
          </a:xfrm>
          <a:prstGeom prst="roundRect">
            <a:avLst>
              <a:gd fmla="val 16667" name="adj"/>
            </a:avLst>
          </a:prstGeom>
          <a:solidFill>
            <a:srgbClr val="18275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4"/>
          <p:cNvSpPr txBox="1"/>
          <p:nvPr/>
        </p:nvSpPr>
        <p:spPr>
          <a:xfrm>
            <a:off x="4050791" y="2944368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123" name="Google Shape;123;p14"/>
          <p:cNvSpPr txBox="1"/>
          <p:nvPr/>
        </p:nvSpPr>
        <p:spPr>
          <a:xfrm>
            <a:off x="4599432" y="2935224"/>
            <a:ext cx="6739127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32A3A"/>
                </a:solidFill>
                <a:latin typeface="Arial"/>
                <a:ea typeface="Arial"/>
                <a:cs typeface="Arial"/>
                <a:sym typeface="Arial"/>
              </a:rPr>
              <a:t>Programme</a:t>
            </a:r>
            <a:endParaRPr/>
          </a:p>
        </p:txBody>
      </p:sp>
      <p:sp>
        <p:nvSpPr>
          <p:cNvPr id="124" name="Google Shape;124;p14"/>
          <p:cNvSpPr txBox="1"/>
          <p:nvPr/>
        </p:nvSpPr>
        <p:spPr>
          <a:xfrm>
            <a:off x="4599432" y="3355848"/>
            <a:ext cx="6739127" cy="73151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B.Tech CSE  •  Batch 2024–2028</a:t>
            </a:r>
            <a:endParaRPr/>
          </a:p>
        </p:txBody>
      </p:sp>
      <p:sp>
        <p:nvSpPr>
          <p:cNvPr id="125" name="Google Shape;125;p14"/>
          <p:cNvSpPr/>
          <p:nvPr/>
        </p:nvSpPr>
        <p:spPr>
          <a:xfrm>
            <a:off x="3886200" y="3730752"/>
            <a:ext cx="7635240" cy="768096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AE0E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4"/>
          <p:cNvSpPr/>
          <p:nvPr/>
        </p:nvSpPr>
        <p:spPr>
          <a:xfrm>
            <a:off x="4050791" y="3886200"/>
            <a:ext cx="411480" cy="411480"/>
          </a:xfrm>
          <a:prstGeom prst="roundRect">
            <a:avLst>
              <a:gd fmla="val 16667" name="adj"/>
            </a:avLst>
          </a:prstGeom>
          <a:solidFill>
            <a:srgbClr val="18275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4"/>
          <p:cNvSpPr txBox="1"/>
          <p:nvPr/>
        </p:nvSpPr>
        <p:spPr>
          <a:xfrm>
            <a:off x="4050791" y="388620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128" name="Google Shape;128;p14"/>
          <p:cNvSpPr txBox="1"/>
          <p:nvPr/>
        </p:nvSpPr>
        <p:spPr>
          <a:xfrm>
            <a:off x="4599432" y="3877056"/>
            <a:ext cx="6739127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32A3A"/>
                </a:solidFill>
                <a:latin typeface="Arial"/>
                <a:ea typeface="Arial"/>
                <a:cs typeface="Arial"/>
                <a:sym typeface="Arial"/>
              </a:rPr>
              <a:t>Training Platform</a:t>
            </a:r>
            <a:endParaRPr/>
          </a:p>
        </p:txBody>
      </p:sp>
      <p:sp>
        <p:nvSpPr>
          <p:cNvPr id="129" name="Google Shape;129;p14"/>
          <p:cNvSpPr txBox="1"/>
          <p:nvPr/>
        </p:nvSpPr>
        <p:spPr>
          <a:xfrm>
            <a:off x="4599432" y="4297680"/>
            <a:ext cx="6739127" cy="73151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Cisco Networking Academy</a:t>
            </a:r>
            <a:endParaRPr/>
          </a:p>
        </p:txBody>
      </p:sp>
      <p:sp>
        <p:nvSpPr>
          <p:cNvPr id="130" name="Google Shape;130;p14"/>
          <p:cNvSpPr/>
          <p:nvPr/>
        </p:nvSpPr>
        <p:spPr>
          <a:xfrm>
            <a:off x="3886200" y="4672584"/>
            <a:ext cx="7635240" cy="768096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AE0E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4"/>
          <p:cNvSpPr/>
          <p:nvPr/>
        </p:nvSpPr>
        <p:spPr>
          <a:xfrm>
            <a:off x="4050791" y="4828032"/>
            <a:ext cx="411480" cy="411480"/>
          </a:xfrm>
          <a:prstGeom prst="roundRect">
            <a:avLst>
              <a:gd fmla="val 16667" name="adj"/>
            </a:avLst>
          </a:prstGeom>
          <a:solidFill>
            <a:srgbClr val="18275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4"/>
          <p:cNvSpPr txBox="1"/>
          <p:nvPr/>
        </p:nvSpPr>
        <p:spPr>
          <a:xfrm>
            <a:off x="4050791" y="4828032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133" name="Google Shape;133;p14"/>
          <p:cNvSpPr txBox="1"/>
          <p:nvPr/>
        </p:nvSpPr>
        <p:spPr>
          <a:xfrm>
            <a:off x="4599432" y="4818888"/>
            <a:ext cx="6739127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32A3A"/>
                </a:solidFill>
                <a:latin typeface="Arial"/>
                <a:ea typeface="Arial"/>
                <a:cs typeface="Arial"/>
                <a:sym typeface="Arial"/>
              </a:rPr>
              <a:t>Training Focus</a:t>
            </a:r>
            <a:endParaRPr/>
          </a:p>
        </p:txBody>
      </p:sp>
      <p:sp>
        <p:nvSpPr>
          <p:cNvPr id="134" name="Google Shape;134;p14"/>
          <p:cNvSpPr txBox="1"/>
          <p:nvPr/>
        </p:nvSpPr>
        <p:spPr>
          <a:xfrm>
            <a:off x="4599432" y="5239512"/>
            <a:ext cx="6739127" cy="73151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Networking  •  Cybersecurity  •  IoT</a:t>
            </a:r>
            <a:endParaRPr/>
          </a:p>
        </p:txBody>
      </p:sp>
      <p:sp>
        <p:nvSpPr>
          <p:cNvPr id="135" name="Google Shape;135;p14"/>
          <p:cNvSpPr txBox="1"/>
          <p:nvPr/>
        </p:nvSpPr>
        <p:spPr>
          <a:xfrm>
            <a:off x="457200" y="6473952"/>
            <a:ext cx="6858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Cisco Networking Academy Training  •  Ankush Raj</a:t>
            </a:r>
            <a:endParaRPr/>
          </a:p>
        </p:txBody>
      </p:sp>
      <p:sp>
        <p:nvSpPr>
          <p:cNvPr id="136" name="Google Shape;136;p14"/>
          <p:cNvSpPr txBox="1"/>
          <p:nvPr/>
        </p:nvSpPr>
        <p:spPr>
          <a:xfrm>
            <a:off x="11247120" y="6428232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5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EFF3F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5"/>
          <p:cNvSpPr txBox="1"/>
          <p:nvPr/>
        </p:nvSpPr>
        <p:spPr>
          <a:xfrm>
            <a:off x="594360" y="347472"/>
            <a:ext cx="4114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E0B02C"/>
                </a:solidFill>
                <a:latin typeface="Arial"/>
                <a:ea typeface="Arial"/>
                <a:cs typeface="Arial"/>
                <a:sym typeface="Arial"/>
              </a:rPr>
              <a:t>ABOUT THE TRAINING</a:t>
            </a:r>
            <a:endParaRPr/>
          </a:p>
        </p:txBody>
      </p:sp>
      <p:sp>
        <p:nvSpPr>
          <p:cNvPr id="143" name="Google Shape;143;p15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8275B"/>
                </a:solidFill>
                <a:latin typeface="Georgia"/>
                <a:ea typeface="Georgia"/>
                <a:cs typeface="Georgia"/>
                <a:sym typeface="Georgia"/>
              </a:rPr>
              <a:t>Cisco Networking Academy</a:t>
            </a:r>
            <a:endParaRPr/>
          </a:p>
        </p:txBody>
      </p:sp>
      <p:sp>
        <p:nvSpPr>
          <p:cNvPr id="144" name="Google Shape;144;p15"/>
          <p:cNvSpPr txBox="1"/>
          <p:nvPr/>
        </p:nvSpPr>
        <p:spPr>
          <a:xfrm>
            <a:off x="621792" y="1280160"/>
            <a:ext cx="10789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Three introductory courses that build one connected technology foundation</a:t>
            </a:r>
            <a:endParaRPr/>
          </a:p>
        </p:txBody>
      </p:sp>
      <p:sp>
        <p:nvSpPr>
          <p:cNvPr id="145" name="Google Shape;145;p15"/>
          <p:cNvSpPr txBox="1"/>
          <p:nvPr/>
        </p:nvSpPr>
        <p:spPr>
          <a:xfrm>
            <a:off x="640080" y="1755648"/>
            <a:ext cx="108356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232A3A"/>
                </a:solidFill>
                <a:latin typeface="Arial"/>
                <a:ea typeface="Arial"/>
                <a:cs typeface="Arial"/>
                <a:sym typeface="Arial"/>
              </a:rPr>
              <a:t>The three courses were completed as a single learning journey: first understanding how devices communicate, then how digital systems are protected, and finally how connected technologies transform the world.</a:t>
            </a:r>
            <a:endParaRPr/>
          </a:p>
        </p:txBody>
      </p:sp>
      <p:sp>
        <p:nvSpPr>
          <p:cNvPr id="146" name="Google Shape;146;p15"/>
          <p:cNvSpPr/>
          <p:nvPr/>
        </p:nvSpPr>
        <p:spPr>
          <a:xfrm>
            <a:off x="621792" y="2761488"/>
            <a:ext cx="3429000" cy="23317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AE0E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5"/>
          <p:cNvSpPr/>
          <p:nvPr/>
        </p:nvSpPr>
        <p:spPr>
          <a:xfrm>
            <a:off x="786384" y="2916936"/>
            <a:ext cx="411480" cy="411480"/>
          </a:xfrm>
          <a:prstGeom prst="roundRect">
            <a:avLst>
              <a:gd fmla="val 16667" name="adj"/>
            </a:avLst>
          </a:prstGeom>
          <a:solidFill>
            <a:srgbClr val="18275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5"/>
          <p:cNvSpPr txBox="1"/>
          <p:nvPr/>
        </p:nvSpPr>
        <p:spPr>
          <a:xfrm>
            <a:off x="786384" y="2916936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49" name="Google Shape;149;p15"/>
          <p:cNvSpPr txBox="1"/>
          <p:nvPr/>
        </p:nvSpPr>
        <p:spPr>
          <a:xfrm>
            <a:off x="1335024" y="2907792"/>
            <a:ext cx="248716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32A3A"/>
                </a:solidFill>
                <a:latin typeface="Arial"/>
                <a:ea typeface="Arial"/>
                <a:cs typeface="Arial"/>
                <a:sym typeface="Arial"/>
              </a:rPr>
              <a:t>Networking Basics</a:t>
            </a:r>
            <a:endParaRPr/>
          </a:p>
        </p:txBody>
      </p:sp>
      <p:sp>
        <p:nvSpPr>
          <p:cNvPr id="150" name="Google Shape;150;p15"/>
          <p:cNvSpPr txBox="1"/>
          <p:nvPr/>
        </p:nvSpPr>
        <p:spPr>
          <a:xfrm>
            <a:off x="1335024" y="3328416"/>
            <a:ext cx="2532888" cy="1636775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19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Foundation of networking, network devices, media, protocols, IP addressing and simple LAN concepts.</a:t>
            </a:r>
            <a:endParaRPr/>
          </a:p>
        </p:txBody>
      </p:sp>
      <p:sp>
        <p:nvSpPr>
          <p:cNvPr id="151" name="Google Shape;151;p15"/>
          <p:cNvSpPr/>
          <p:nvPr/>
        </p:nvSpPr>
        <p:spPr>
          <a:xfrm>
            <a:off x="4379976" y="2761488"/>
            <a:ext cx="3429000" cy="23317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AE0E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5"/>
          <p:cNvSpPr/>
          <p:nvPr/>
        </p:nvSpPr>
        <p:spPr>
          <a:xfrm>
            <a:off x="4544568" y="2916936"/>
            <a:ext cx="411480" cy="411480"/>
          </a:xfrm>
          <a:prstGeom prst="roundRect">
            <a:avLst>
              <a:gd fmla="val 16667" name="adj"/>
            </a:avLst>
          </a:prstGeom>
          <a:solidFill>
            <a:srgbClr val="18275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5"/>
          <p:cNvSpPr txBox="1"/>
          <p:nvPr/>
        </p:nvSpPr>
        <p:spPr>
          <a:xfrm>
            <a:off x="4544568" y="2916936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154" name="Google Shape;154;p15"/>
          <p:cNvSpPr txBox="1"/>
          <p:nvPr/>
        </p:nvSpPr>
        <p:spPr>
          <a:xfrm>
            <a:off x="5093208" y="2907792"/>
            <a:ext cx="248716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32A3A"/>
                </a:solidFill>
                <a:latin typeface="Arial"/>
                <a:ea typeface="Arial"/>
                <a:cs typeface="Arial"/>
                <a:sym typeface="Arial"/>
              </a:rPr>
              <a:t>Introduction to Cybersecurity</a:t>
            </a:r>
            <a:endParaRPr/>
          </a:p>
        </p:txBody>
      </p:sp>
      <p:sp>
        <p:nvSpPr>
          <p:cNvPr id="155" name="Google Shape;155;p15"/>
          <p:cNvSpPr txBox="1"/>
          <p:nvPr/>
        </p:nvSpPr>
        <p:spPr>
          <a:xfrm>
            <a:off x="5093208" y="3328416"/>
            <a:ext cx="2532888" cy="1636775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19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Cyber trends, threats, safe behavior in cyberspace, privacy and protection of personal and company data.</a:t>
            </a:r>
            <a:endParaRPr/>
          </a:p>
        </p:txBody>
      </p:sp>
      <p:sp>
        <p:nvSpPr>
          <p:cNvPr id="156" name="Google Shape;156;p15"/>
          <p:cNvSpPr/>
          <p:nvPr/>
        </p:nvSpPr>
        <p:spPr>
          <a:xfrm>
            <a:off x="8138160" y="2761488"/>
            <a:ext cx="3429000" cy="23317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AE0E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5"/>
          <p:cNvSpPr/>
          <p:nvPr/>
        </p:nvSpPr>
        <p:spPr>
          <a:xfrm>
            <a:off x="8302752" y="2916936"/>
            <a:ext cx="411480" cy="411480"/>
          </a:xfrm>
          <a:prstGeom prst="roundRect">
            <a:avLst>
              <a:gd fmla="val 16667" name="adj"/>
            </a:avLst>
          </a:prstGeom>
          <a:solidFill>
            <a:srgbClr val="18275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5"/>
          <p:cNvSpPr txBox="1"/>
          <p:nvPr/>
        </p:nvSpPr>
        <p:spPr>
          <a:xfrm>
            <a:off x="8302752" y="2916936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159" name="Google Shape;159;p15"/>
          <p:cNvSpPr txBox="1"/>
          <p:nvPr/>
        </p:nvSpPr>
        <p:spPr>
          <a:xfrm>
            <a:off x="8851392" y="2907792"/>
            <a:ext cx="2487168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32A3A"/>
                </a:solidFill>
                <a:latin typeface="Arial"/>
                <a:ea typeface="Arial"/>
                <a:cs typeface="Arial"/>
                <a:sym typeface="Arial"/>
              </a:rPr>
              <a:t>Introduction to IoT &amp; Digital Transformation</a:t>
            </a:r>
            <a:endParaRPr/>
          </a:p>
        </p:txBody>
      </p:sp>
      <p:sp>
        <p:nvSpPr>
          <p:cNvPr id="160" name="Google Shape;160;p15"/>
          <p:cNvSpPr txBox="1"/>
          <p:nvPr/>
        </p:nvSpPr>
        <p:spPr>
          <a:xfrm>
            <a:off x="8851392" y="3328416"/>
            <a:ext cx="2532888" cy="1636775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19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IoT, connected devices, data analytics, artificial intelligence and digital transformation.</a:t>
            </a:r>
            <a:endParaRPr/>
          </a:p>
        </p:txBody>
      </p:sp>
      <p:sp>
        <p:nvSpPr>
          <p:cNvPr id="161" name="Google Shape;161;p15"/>
          <p:cNvSpPr/>
          <p:nvPr/>
        </p:nvSpPr>
        <p:spPr>
          <a:xfrm>
            <a:off x="1572768" y="5349240"/>
            <a:ext cx="1234440" cy="310896"/>
          </a:xfrm>
          <a:prstGeom prst="roundRect">
            <a:avLst>
              <a:gd fmla="val 16667" name="adj"/>
            </a:avLst>
          </a:prstGeom>
          <a:solidFill>
            <a:srgbClr val="DCE4F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5"/>
          <p:cNvSpPr txBox="1"/>
          <p:nvPr/>
        </p:nvSpPr>
        <p:spPr>
          <a:xfrm>
            <a:off x="1591056" y="5358383"/>
            <a:ext cx="1197864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18275B"/>
                </a:solidFill>
                <a:latin typeface="Arial"/>
                <a:ea typeface="Arial"/>
                <a:cs typeface="Arial"/>
                <a:sym typeface="Arial"/>
              </a:rPr>
              <a:t>FOUNDATION</a:t>
            </a:r>
            <a:endParaRPr/>
          </a:p>
        </p:txBody>
      </p:sp>
      <p:sp>
        <p:nvSpPr>
          <p:cNvPr id="163" name="Google Shape;163;p15"/>
          <p:cNvSpPr/>
          <p:nvPr/>
        </p:nvSpPr>
        <p:spPr>
          <a:xfrm>
            <a:off x="5303520" y="5349240"/>
            <a:ext cx="1234440" cy="310896"/>
          </a:xfrm>
          <a:prstGeom prst="roundRect">
            <a:avLst>
              <a:gd fmla="val 16667" name="adj"/>
            </a:avLst>
          </a:prstGeom>
          <a:solidFill>
            <a:srgbClr val="DCE4F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5"/>
          <p:cNvSpPr txBox="1"/>
          <p:nvPr/>
        </p:nvSpPr>
        <p:spPr>
          <a:xfrm>
            <a:off x="5321807" y="5358383"/>
            <a:ext cx="1197864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18275B"/>
                </a:solidFill>
                <a:latin typeface="Arial"/>
                <a:ea typeface="Arial"/>
                <a:cs typeface="Arial"/>
                <a:sym typeface="Arial"/>
              </a:rPr>
              <a:t>PROTECTION</a:t>
            </a:r>
            <a:endParaRPr/>
          </a:p>
        </p:txBody>
      </p:sp>
      <p:sp>
        <p:nvSpPr>
          <p:cNvPr id="165" name="Google Shape;165;p15"/>
          <p:cNvSpPr/>
          <p:nvPr/>
        </p:nvSpPr>
        <p:spPr>
          <a:xfrm>
            <a:off x="8833104" y="5349240"/>
            <a:ext cx="1783080" cy="310896"/>
          </a:xfrm>
          <a:prstGeom prst="roundRect">
            <a:avLst>
              <a:gd fmla="val 16667" name="adj"/>
            </a:avLst>
          </a:prstGeom>
          <a:solidFill>
            <a:srgbClr val="DCE4F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5"/>
          <p:cNvSpPr txBox="1"/>
          <p:nvPr/>
        </p:nvSpPr>
        <p:spPr>
          <a:xfrm>
            <a:off x="8851392" y="5358383"/>
            <a:ext cx="1746504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18275B"/>
                </a:solidFill>
                <a:latin typeface="Arial"/>
                <a:ea typeface="Arial"/>
                <a:cs typeface="Arial"/>
                <a:sym typeface="Arial"/>
              </a:rPr>
              <a:t>CONNECTED FUTURE</a:t>
            </a:r>
            <a:endParaRPr/>
          </a:p>
        </p:txBody>
      </p:sp>
      <p:sp>
        <p:nvSpPr>
          <p:cNvPr id="167" name="Google Shape;167;p15"/>
          <p:cNvSpPr txBox="1"/>
          <p:nvPr/>
        </p:nvSpPr>
        <p:spPr>
          <a:xfrm>
            <a:off x="457200" y="6473952"/>
            <a:ext cx="6858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Cisco Networking Academy Training  •  Ankush Raj</a:t>
            </a:r>
            <a:endParaRPr/>
          </a:p>
        </p:txBody>
      </p:sp>
      <p:sp>
        <p:nvSpPr>
          <p:cNvPr id="168" name="Google Shape;168;p15"/>
          <p:cNvSpPr txBox="1"/>
          <p:nvPr/>
        </p:nvSpPr>
        <p:spPr>
          <a:xfrm>
            <a:off x="11247120" y="6428232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6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EFF3F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6"/>
          <p:cNvSpPr txBox="1"/>
          <p:nvPr/>
        </p:nvSpPr>
        <p:spPr>
          <a:xfrm>
            <a:off x="594360" y="347472"/>
            <a:ext cx="4114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E0B02C"/>
                </a:solidFill>
                <a:latin typeface="Arial"/>
                <a:ea typeface="Arial"/>
                <a:cs typeface="Arial"/>
                <a:sym typeface="Arial"/>
              </a:rPr>
              <a:t>PROBLEM STATEMENT</a:t>
            </a:r>
            <a:endParaRPr/>
          </a:p>
        </p:txBody>
      </p:sp>
      <p:sp>
        <p:nvSpPr>
          <p:cNvPr id="175" name="Google Shape;175;p16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8275B"/>
                </a:solidFill>
                <a:latin typeface="Georgia"/>
                <a:ea typeface="Georgia"/>
                <a:cs typeface="Georgia"/>
                <a:sym typeface="Georgia"/>
              </a:rPr>
              <a:t>Building a Connected Technology Foundation</a:t>
            </a:r>
            <a:endParaRPr/>
          </a:p>
        </p:txBody>
      </p:sp>
      <p:sp>
        <p:nvSpPr>
          <p:cNvPr id="176" name="Google Shape;176;p16"/>
          <p:cNvSpPr txBox="1"/>
          <p:nvPr/>
        </p:nvSpPr>
        <p:spPr>
          <a:xfrm>
            <a:off x="621792" y="1280160"/>
            <a:ext cx="10789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Why these three areas were studied together</a:t>
            </a:r>
            <a:endParaRPr/>
          </a:p>
        </p:txBody>
      </p:sp>
      <p:sp>
        <p:nvSpPr>
          <p:cNvPr id="177" name="Google Shape;177;p16"/>
          <p:cNvSpPr txBox="1"/>
          <p:nvPr/>
        </p:nvSpPr>
        <p:spPr>
          <a:xfrm>
            <a:off x="640080" y="1755648"/>
            <a:ext cx="108356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32A3A"/>
                </a:solidFill>
                <a:latin typeface="Arial"/>
                <a:ea typeface="Arial"/>
                <a:cs typeface="Arial"/>
                <a:sym typeface="Arial"/>
              </a:rPr>
              <a:t>Modern digital systems depend on networks, connected devices and information that must be protected. Learning these topics separately can make it harder to understand how the complete technology environment works.</a:t>
            </a:r>
            <a:endParaRPr/>
          </a:p>
        </p:txBody>
      </p:sp>
      <p:sp>
        <p:nvSpPr>
          <p:cNvPr id="178" name="Google Shape;178;p16"/>
          <p:cNvSpPr txBox="1"/>
          <p:nvPr/>
        </p:nvSpPr>
        <p:spPr>
          <a:xfrm>
            <a:off x="640080" y="267004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8275B"/>
                </a:solidFill>
                <a:latin typeface="Arial"/>
                <a:ea typeface="Arial"/>
                <a:cs typeface="Arial"/>
                <a:sym typeface="Arial"/>
              </a:rPr>
              <a:t>The training addressed this gap through a simple progression:</a:t>
            </a:r>
            <a:endParaRPr/>
          </a:p>
        </p:txBody>
      </p:sp>
      <p:sp>
        <p:nvSpPr>
          <p:cNvPr id="179" name="Google Shape;179;p16"/>
          <p:cNvSpPr/>
          <p:nvPr/>
        </p:nvSpPr>
        <p:spPr>
          <a:xfrm>
            <a:off x="685800" y="3246120"/>
            <a:ext cx="3154680" cy="16916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AE0E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6"/>
          <p:cNvSpPr txBox="1"/>
          <p:nvPr/>
        </p:nvSpPr>
        <p:spPr>
          <a:xfrm>
            <a:off x="886968" y="3392424"/>
            <a:ext cx="2752344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32A3A"/>
                </a:solidFill>
                <a:latin typeface="Arial"/>
                <a:ea typeface="Arial"/>
                <a:cs typeface="Arial"/>
                <a:sym typeface="Arial"/>
              </a:rPr>
              <a:t>1  CONNECT</a:t>
            </a:r>
            <a:endParaRPr/>
          </a:p>
        </p:txBody>
      </p:sp>
      <p:sp>
        <p:nvSpPr>
          <p:cNvPr id="181" name="Google Shape;181;p16"/>
          <p:cNvSpPr txBox="1"/>
          <p:nvPr/>
        </p:nvSpPr>
        <p:spPr>
          <a:xfrm>
            <a:off x="886968" y="3813048"/>
            <a:ext cx="2752344" cy="99669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9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How devices and networks communicate.</a:t>
            </a:r>
            <a:endParaRPr/>
          </a:p>
        </p:txBody>
      </p:sp>
      <p:cxnSp>
        <p:nvCxnSpPr>
          <p:cNvPr id="182" name="Google Shape;182;p16"/>
          <p:cNvCxnSpPr/>
          <p:nvPr/>
        </p:nvCxnSpPr>
        <p:spPr>
          <a:xfrm>
            <a:off x="3867912" y="4096512"/>
            <a:ext cx="411480" cy="0"/>
          </a:xfrm>
          <a:prstGeom prst="straightConnector1">
            <a:avLst/>
          </a:prstGeom>
          <a:noFill/>
          <a:ln cap="flat" cmpd="sng" w="19050">
            <a:solidFill>
              <a:srgbClr val="E0B02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83" name="Google Shape;183;p16"/>
          <p:cNvSpPr/>
          <p:nvPr/>
        </p:nvSpPr>
        <p:spPr>
          <a:xfrm>
            <a:off x="4343400" y="3246120"/>
            <a:ext cx="3154680" cy="16916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AE0E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6"/>
          <p:cNvSpPr txBox="1"/>
          <p:nvPr/>
        </p:nvSpPr>
        <p:spPr>
          <a:xfrm>
            <a:off x="4544568" y="3392424"/>
            <a:ext cx="2752344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32A3A"/>
                </a:solidFill>
                <a:latin typeface="Arial"/>
                <a:ea typeface="Arial"/>
                <a:cs typeface="Arial"/>
                <a:sym typeface="Arial"/>
              </a:rPr>
              <a:t>2  PROTECT</a:t>
            </a:r>
            <a:endParaRPr/>
          </a:p>
        </p:txBody>
      </p:sp>
      <p:sp>
        <p:nvSpPr>
          <p:cNvPr id="185" name="Google Shape;185;p16"/>
          <p:cNvSpPr txBox="1"/>
          <p:nvPr/>
        </p:nvSpPr>
        <p:spPr>
          <a:xfrm>
            <a:off x="4544568" y="3813048"/>
            <a:ext cx="2752344" cy="99669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9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How users and organizations reduce digital risk.</a:t>
            </a:r>
            <a:endParaRPr/>
          </a:p>
        </p:txBody>
      </p:sp>
      <p:cxnSp>
        <p:nvCxnSpPr>
          <p:cNvPr id="186" name="Google Shape;186;p16"/>
          <p:cNvCxnSpPr/>
          <p:nvPr/>
        </p:nvCxnSpPr>
        <p:spPr>
          <a:xfrm>
            <a:off x="7525512" y="4096512"/>
            <a:ext cx="411480" cy="0"/>
          </a:xfrm>
          <a:prstGeom prst="straightConnector1">
            <a:avLst/>
          </a:prstGeom>
          <a:noFill/>
          <a:ln cap="flat" cmpd="sng" w="19050">
            <a:solidFill>
              <a:srgbClr val="E0B02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87" name="Google Shape;187;p16"/>
          <p:cNvSpPr/>
          <p:nvPr/>
        </p:nvSpPr>
        <p:spPr>
          <a:xfrm>
            <a:off x="8001000" y="3246120"/>
            <a:ext cx="3154680" cy="16916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AE0E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6"/>
          <p:cNvSpPr txBox="1"/>
          <p:nvPr/>
        </p:nvSpPr>
        <p:spPr>
          <a:xfrm>
            <a:off x="8202168" y="3392424"/>
            <a:ext cx="2752344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32A3A"/>
                </a:solidFill>
                <a:latin typeface="Arial"/>
                <a:ea typeface="Arial"/>
                <a:cs typeface="Arial"/>
                <a:sym typeface="Arial"/>
              </a:rPr>
              <a:t>3  TRANSFORM</a:t>
            </a:r>
            <a:endParaRPr/>
          </a:p>
        </p:txBody>
      </p:sp>
      <p:sp>
        <p:nvSpPr>
          <p:cNvPr id="189" name="Google Shape;189;p16"/>
          <p:cNvSpPr txBox="1"/>
          <p:nvPr/>
        </p:nvSpPr>
        <p:spPr>
          <a:xfrm>
            <a:off x="8202168" y="3813048"/>
            <a:ext cx="2752344" cy="99669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69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How IoT and emerging technologies use connectivity and data.</a:t>
            </a:r>
            <a:endParaRPr/>
          </a:p>
        </p:txBody>
      </p:sp>
      <p:sp>
        <p:nvSpPr>
          <p:cNvPr id="190" name="Google Shape;190;p16"/>
          <p:cNvSpPr/>
          <p:nvPr/>
        </p:nvSpPr>
        <p:spPr>
          <a:xfrm>
            <a:off x="2926080" y="5440680"/>
            <a:ext cx="6355080" cy="310896"/>
          </a:xfrm>
          <a:prstGeom prst="roundRect">
            <a:avLst>
              <a:gd fmla="val 16667" name="adj"/>
            </a:avLst>
          </a:prstGeom>
          <a:solidFill>
            <a:srgbClr val="DCE4F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6"/>
          <p:cNvSpPr txBox="1"/>
          <p:nvPr/>
        </p:nvSpPr>
        <p:spPr>
          <a:xfrm>
            <a:off x="2944368" y="5449824"/>
            <a:ext cx="6318504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18275B"/>
                </a:solidFill>
                <a:latin typeface="Arial"/>
                <a:ea typeface="Arial"/>
                <a:cs typeface="Arial"/>
                <a:sym typeface="Arial"/>
              </a:rPr>
              <a:t>NETWORKING  →  CYBERSECURITY  →  IoT / DIGITAL TRANSFORMATION</a:t>
            </a:r>
            <a:endParaRPr/>
          </a:p>
        </p:txBody>
      </p:sp>
      <p:sp>
        <p:nvSpPr>
          <p:cNvPr id="192" name="Google Shape;192;p16"/>
          <p:cNvSpPr txBox="1"/>
          <p:nvPr/>
        </p:nvSpPr>
        <p:spPr>
          <a:xfrm>
            <a:off x="457200" y="6473952"/>
            <a:ext cx="6858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Cisco Networking Academy Training  •  Ankush Raj</a:t>
            </a:r>
            <a:endParaRPr/>
          </a:p>
        </p:txBody>
      </p:sp>
      <p:sp>
        <p:nvSpPr>
          <p:cNvPr id="193" name="Google Shape;193;p16"/>
          <p:cNvSpPr txBox="1"/>
          <p:nvPr/>
        </p:nvSpPr>
        <p:spPr>
          <a:xfrm>
            <a:off x="11247120" y="6428232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7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EFF3F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7"/>
          <p:cNvSpPr txBox="1"/>
          <p:nvPr/>
        </p:nvSpPr>
        <p:spPr>
          <a:xfrm>
            <a:off x="594360" y="347472"/>
            <a:ext cx="4114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E0B02C"/>
                </a:solidFill>
                <a:latin typeface="Arial"/>
                <a:ea typeface="Arial"/>
                <a:cs typeface="Arial"/>
                <a:sym typeface="Arial"/>
              </a:rPr>
              <a:t>TRAINING OBJECTIVES</a:t>
            </a:r>
            <a:endParaRPr/>
          </a:p>
        </p:txBody>
      </p:sp>
      <p:sp>
        <p:nvSpPr>
          <p:cNvPr id="200" name="Google Shape;200;p17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8275B"/>
                </a:solidFill>
                <a:latin typeface="Georgia"/>
                <a:ea typeface="Georgia"/>
                <a:cs typeface="Georgia"/>
                <a:sym typeface="Georgia"/>
              </a:rPr>
              <a:t>What the Training Set Out to Achieve</a:t>
            </a:r>
            <a:endParaRPr/>
          </a:p>
        </p:txBody>
      </p:sp>
      <p:sp>
        <p:nvSpPr>
          <p:cNvPr id="201" name="Google Shape;201;p17"/>
          <p:cNvSpPr txBox="1"/>
          <p:nvPr/>
        </p:nvSpPr>
        <p:spPr>
          <a:xfrm>
            <a:off x="621792" y="1280160"/>
            <a:ext cx="10789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Six practical learning goals</a:t>
            </a:r>
            <a:endParaRPr/>
          </a:p>
        </p:txBody>
      </p:sp>
      <p:sp>
        <p:nvSpPr>
          <p:cNvPr id="202" name="Google Shape;202;p17"/>
          <p:cNvSpPr/>
          <p:nvPr/>
        </p:nvSpPr>
        <p:spPr>
          <a:xfrm>
            <a:off x="621792" y="1847088"/>
            <a:ext cx="3383280" cy="166420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AE0E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7"/>
          <p:cNvSpPr/>
          <p:nvPr/>
        </p:nvSpPr>
        <p:spPr>
          <a:xfrm>
            <a:off x="786384" y="2002536"/>
            <a:ext cx="411480" cy="411480"/>
          </a:xfrm>
          <a:prstGeom prst="roundRect">
            <a:avLst>
              <a:gd fmla="val 16667" name="adj"/>
            </a:avLst>
          </a:prstGeom>
          <a:solidFill>
            <a:srgbClr val="18275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7"/>
          <p:cNvSpPr txBox="1"/>
          <p:nvPr/>
        </p:nvSpPr>
        <p:spPr>
          <a:xfrm>
            <a:off x="786384" y="2002536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205" name="Google Shape;205;p17"/>
          <p:cNvSpPr txBox="1"/>
          <p:nvPr/>
        </p:nvSpPr>
        <p:spPr>
          <a:xfrm>
            <a:off x="1335024" y="1993392"/>
            <a:ext cx="2487168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30" u="none" cap="none" strike="noStrike">
                <a:solidFill>
                  <a:srgbClr val="232A3A"/>
                </a:solidFill>
                <a:latin typeface="Arial"/>
                <a:ea typeface="Arial"/>
                <a:cs typeface="Arial"/>
                <a:sym typeface="Arial"/>
              </a:rPr>
              <a:t>Understand Networking</a:t>
            </a:r>
            <a:endParaRPr/>
          </a:p>
        </p:txBody>
      </p:sp>
      <p:sp>
        <p:nvSpPr>
          <p:cNvPr id="206" name="Google Shape;206;p17"/>
          <p:cNvSpPr txBox="1"/>
          <p:nvPr/>
        </p:nvSpPr>
        <p:spPr>
          <a:xfrm>
            <a:off x="1335024" y="2414016"/>
            <a:ext cx="2487168" cy="96926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Build a foundation in networks, devices, media, protocols and IP communication.</a:t>
            </a:r>
            <a:endParaRPr/>
          </a:p>
        </p:txBody>
      </p:sp>
      <p:sp>
        <p:nvSpPr>
          <p:cNvPr id="207" name="Google Shape;207;p17"/>
          <p:cNvSpPr/>
          <p:nvPr/>
        </p:nvSpPr>
        <p:spPr>
          <a:xfrm>
            <a:off x="4233672" y="1847088"/>
            <a:ext cx="3383280" cy="166420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AE0E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7"/>
          <p:cNvSpPr/>
          <p:nvPr/>
        </p:nvSpPr>
        <p:spPr>
          <a:xfrm>
            <a:off x="4398264" y="2002536"/>
            <a:ext cx="411480" cy="411480"/>
          </a:xfrm>
          <a:prstGeom prst="roundRect">
            <a:avLst>
              <a:gd fmla="val 16667" name="adj"/>
            </a:avLst>
          </a:prstGeom>
          <a:solidFill>
            <a:srgbClr val="18275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7"/>
          <p:cNvSpPr txBox="1"/>
          <p:nvPr/>
        </p:nvSpPr>
        <p:spPr>
          <a:xfrm>
            <a:off x="4398264" y="2002536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210" name="Google Shape;210;p17"/>
          <p:cNvSpPr txBox="1"/>
          <p:nvPr/>
        </p:nvSpPr>
        <p:spPr>
          <a:xfrm>
            <a:off x="4946904" y="1993392"/>
            <a:ext cx="2487168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30" u="none" cap="none" strike="noStrike">
                <a:solidFill>
                  <a:srgbClr val="232A3A"/>
                </a:solidFill>
                <a:latin typeface="Arial"/>
                <a:ea typeface="Arial"/>
                <a:cs typeface="Arial"/>
                <a:sym typeface="Arial"/>
              </a:rPr>
              <a:t>Build Security Awareness</a:t>
            </a:r>
            <a:endParaRPr/>
          </a:p>
        </p:txBody>
      </p:sp>
      <p:sp>
        <p:nvSpPr>
          <p:cNvPr id="211" name="Google Shape;211;p17"/>
          <p:cNvSpPr txBox="1"/>
          <p:nvPr/>
        </p:nvSpPr>
        <p:spPr>
          <a:xfrm>
            <a:off x="4946904" y="2414016"/>
            <a:ext cx="2487168" cy="96926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Recognize cyber threats, safe online behavior and the importance of protecting data.</a:t>
            </a:r>
            <a:endParaRPr/>
          </a:p>
        </p:txBody>
      </p:sp>
      <p:sp>
        <p:nvSpPr>
          <p:cNvPr id="212" name="Google Shape;212;p17"/>
          <p:cNvSpPr/>
          <p:nvPr/>
        </p:nvSpPr>
        <p:spPr>
          <a:xfrm>
            <a:off x="7845552" y="1847088"/>
            <a:ext cx="3383280" cy="166420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AE0E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7"/>
          <p:cNvSpPr/>
          <p:nvPr/>
        </p:nvSpPr>
        <p:spPr>
          <a:xfrm>
            <a:off x="8010144" y="2002536"/>
            <a:ext cx="411480" cy="411480"/>
          </a:xfrm>
          <a:prstGeom prst="roundRect">
            <a:avLst>
              <a:gd fmla="val 16667" name="adj"/>
            </a:avLst>
          </a:prstGeom>
          <a:solidFill>
            <a:srgbClr val="18275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7"/>
          <p:cNvSpPr txBox="1"/>
          <p:nvPr/>
        </p:nvSpPr>
        <p:spPr>
          <a:xfrm>
            <a:off x="8010144" y="2002536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215" name="Google Shape;215;p17"/>
          <p:cNvSpPr txBox="1"/>
          <p:nvPr/>
        </p:nvSpPr>
        <p:spPr>
          <a:xfrm>
            <a:off x="8558784" y="1993392"/>
            <a:ext cx="2487168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30" u="none" cap="none" strike="noStrike">
                <a:solidFill>
                  <a:srgbClr val="232A3A"/>
                </a:solidFill>
                <a:latin typeface="Arial"/>
                <a:ea typeface="Arial"/>
                <a:cs typeface="Arial"/>
                <a:sym typeface="Arial"/>
              </a:rPr>
              <a:t>Explore IoT</a:t>
            </a:r>
            <a:endParaRPr/>
          </a:p>
        </p:txBody>
      </p:sp>
      <p:sp>
        <p:nvSpPr>
          <p:cNvPr id="216" name="Google Shape;216;p17"/>
          <p:cNvSpPr txBox="1"/>
          <p:nvPr/>
        </p:nvSpPr>
        <p:spPr>
          <a:xfrm>
            <a:off x="8558784" y="2414016"/>
            <a:ext cx="2487168" cy="96926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Understand connected devices and the basic role of IoT in digital systems.</a:t>
            </a:r>
            <a:endParaRPr/>
          </a:p>
        </p:txBody>
      </p:sp>
      <p:sp>
        <p:nvSpPr>
          <p:cNvPr id="217" name="Google Shape;217;p17"/>
          <p:cNvSpPr/>
          <p:nvPr/>
        </p:nvSpPr>
        <p:spPr>
          <a:xfrm>
            <a:off x="621792" y="3913632"/>
            <a:ext cx="3383280" cy="166420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AE0E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7"/>
          <p:cNvSpPr/>
          <p:nvPr/>
        </p:nvSpPr>
        <p:spPr>
          <a:xfrm>
            <a:off x="786384" y="4069080"/>
            <a:ext cx="411480" cy="411480"/>
          </a:xfrm>
          <a:prstGeom prst="roundRect">
            <a:avLst>
              <a:gd fmla="val 16667" name="adj"/>
            </a:avLst>
          </a:prstGeom>
          <a:solidFill>
            <a:srgbClr val="18275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7"/>
          <p:cNvSpPr txBox="1"/>
          <p:nvPr/>
        </p:nvSpPr>
        <p:spPr>
          <a:xfrm>
            <a:off x="786384" y="406908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220" name="Google Shape;220;p17"/>
          <p:cNvSpPr txBox="1"/>
          <p:nvPr/>
        </p:nvSpPr>
        <p:spPr>
          <a:xfrm>
            <a:off x="1335024" y="4059936"/>
            <a:ext cx="2487168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30" u="none" cap="none" strike="noStrike">
                <a:solidFill>
                  <a:srgbClr val="232A3A"/>
                </a:solidFill>
                <a:latin typeface="Arial"/>
                <a:ea typeface="Arial"/>
                <a:cs typeface="Arial"/>
                <a:sym typeface="Arial"/>
              </a:rPr>
              <a:t>Understand Digital Transformation</a:t>
            </a:r>
            <a:endParaRPr/>
          </a:p>
        </p:txBody>
      </p:sp>
      <p:sp>
        <p:nvSpPr>
          <p:cNvPr id="221" name="Google Shape;221;p17"/>
          <p:cNvSpPr txBox="1"/>
          <p:nvPr/>
        </p:nvSpPr>
        <p:spPr>
          <a:xfrm>
            <a:off x="1335024" y="4480560"/>
            <a:ext cx="2487168" cy="96926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See how data and emerging technologies change organizations and industries.</a:t>
            </a:r>
            <a:endParaRPr/>
          </a:p>
        </p:txBody>
      </p:sp>
      <p:sp>
        <p:nvSpPr>
          <p:cNvPr id="222" name="Google Shape;222;p17"/>
          <p:cNvSpPr/>
          <p:nvPr/>
        </p:nvSpPr>
        <p:spPr>
          <a:xfrm>
            <a:off x="4233672" y="3913632"/>
            <a:ext cx="3383280" cy="166420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AE0E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7"/>
          <p:cNvSpPr/>
          <p:nvPr/>
        </p:nvSpPr>
        <p:spPr>
          <a:xfrm>
            <a:off x="4398264" y="4069080"/>
            <a:ext cx="411480" cy="411480"/>
          </a:xfrm>
          <a:prstGeom prst="roundRect">
            <a:avLst>
              <a:gd fmla="val 16667" name="adj"/>
            </a:avLst>
          </a:prstGeom>
          <a:solidFill>
            <a:srgbClr val="18275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7"/>
          <p:cNvSpPr txBox="1"/>
          <p:nvPr/>
        </p:nvSpPr>
        <p:spPr>
          <a:xfrm>
            <a:off x="4398264" y="406908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225" name="Google Shape;225;p17"/>
          <p:cNvSpPr txBox="1"/>
          <p:nvPr/>
        </p:nvSpPr>
        <p:spPr>
          <a:xfrm>
            <a:off x="4946904" y="4059936"/>
            <a:ext cx="2487168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30" u="none" cap="none" strike="noStrike">
                <a:solidFill>
                  <a:srgbClr val="232A3A"/>
                </a:solidFill>
                <a:latin typeface="Arial"/>
                <a:ea typeface="Arial"/>
                <a:cs typeface="Arial"/>
                <a:sym typeface="Arial"/>
              </a:rPr>
              <a:t>Connect the Domains</a:t>
            </a:r>
            <a:endParaRPr/>
          </a:p>
        </p:txBody>
      </p:sp>
      <p:sp>
        <p:nvSpPr>
          <p:cNvPr id="226" name="Google Shape;226;p17"/>
          <p:cNvSpPr txBox="1"/>
          <p:nvPr/>
        </p:nvSpPr>
        <p:spPr>
          <a:xfrm>
            <a:off x="4946904" y="4480560"/>
            <a:ext cx="2487168" cy="96926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Relate networking, cybersecurity and IoT instead of treating them as isolated topics.</a:t>
            </a:r>
            <a:endParaRPr/>
          </a:p>
        </p:txBody>
      </p:sp>
      <p:sp>
        <p:nvSpPr>
          <p:cNvPr id="227" name="Google Shape;227;p17"/>
          <p:cNvSpPr/>
          <p:nvPr/>
        </p:nvSpPr>
        <p:spPr>
          <a:xfrm>
            <a:off x="7845552" y="3913632"/>
            <a:ext cx="3383280" cy="166420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AE0E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7"/>
          <p:cNvSpPr/>
          <p:nvPr/>
        </p:nvSpPr>
        <p:spPr>
          <a:xfrm>
            <a:off x="8010144" y="4069080"/>
            <a:ext cx="411480" cy="411480"/>
          </a:xfrm>
          <a:prstGeom prst="roundRect">
            <a:avLst>
              <a:gd fmla="val 16667" name="adj"/>
            </a:avLst>
          </a:prstGeom>
          <a:solidFill>
            <a:srgbClr val="18275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7"/>
          <p:cNvSpPr txBox="1"/>
          <p:nvPr/>
        </p:nvSpPr>
        <p:spPr>
          <a:xfrm>
            <a:off x="8010144" y="406908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  <p:sp>
        <p:nvSpPr>
          <p:cNvPr id="230" name="Google Shape;230;p17"/>
          <p:cNvSpPr txBox="1"/>
          <p:nvPr/>
        </p:nvSpPr>
        <p:spPr>
          <a:xfrm>
            <a:off x="8558784" y="4059936"/>
            <a:ext cx="2487168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30" u="none" cap="none" strike="noStrike">
                <a:solidFill>
                  <a:srgbClr val="232A3A"/>
                </a:solidFill>
                <a:latin typeface="Arial"/>
                <a:ea typeface="Arial"/>
                <a:cs typeface="Arial"/>
                <a:sym typeface="Arial"/>
              </a:rPr>
              <a:t>Prepare for Further Learning</a:t>
            </a:r>
            <a:endParaRPr/>
          </a:p>
        </p:txBody>
      </p:sp>
      <p:sp>
        <p:nvSpPr>
          <p:cNvPr id="231" name="Google Shape;231;p17"/>
          <p:cNvSpPr txBox="1"/>
          <p:nvPr/>
        </p:nvSpPr>
        <p:spPr>
          <a:xfrm>
            <a:off x="8558784" y="4480560"/>
            <a:ext cx="2487168" cy="96926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Use the foundation for deeper study in networking, cloud, cybersecurity and software.</a:t>
            </a:r>
            <a:endParaRPr/>
          </a:p>
        </p:txBody>
      </p:sp>
      <p:sp>
        <p:nvSpPr>
          <p:cNvPr id="232" name="Google Shape;232;p17"/>
          <p:cNvSpPr txBox="1"/>
          <p:nvPr/>
        </p:nvSpPr>
        <p:spPr>
          <a:xfrm>
            <a:off x="457200" y="6473952"/>
            <a:ext cx="6858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Cisco Networking Academy Training  •  Ankush Raj</a:t>
            </a:r>
            <a:endParaRPr/>
          </a:p>
        </p:txBody>
      </p:sp>
      <p:sp>
        <p:nvSpPr>
          <p:cNvPr id="233" name="Google Shape;233;p17"/>
          <p:cNvSpPr txBox="1"/>
          <p:nvPr/>
        </p:nvSpPr>
        <p:spPr>
          <a:xfrm>
            <a:off x="11247120" y="6428232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8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EFF3F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8"/>
          <p:cNvSpPr txBox="1"/>
          <p:nvPr/>
        </p:nvSpPr>
        <p:spPr>
          <a:xfrm>
            <a:off x="594360" y="347472"/>
            <a:ext cx="4114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E0B02C"/>
                </a:solidFill>
                <a:latin typeface="Arial"/>
                <a:ea typeface="Arial"/>
                <a:cs typeface="Arial"/>
                <a:sym typeface="Arial"/>
              </a:rPr>
              <a:t>TECHNOLOGIES &amp; CONCEPTS</a:t>
            </a:r>
            <a:endParaRPr/>
          </a:p>
        </p:txBody>
      </p:sp>
      <p:sp>
        <p:nvSpPr>
          <p:cNvPr id="240" name="Google Shape;240;p18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8275B"/>
                </a:solidFill>
                <a:latin typeface="Georgia"/>
                <a:ea typeface="Georgia"/>
                <a:cs typeface="Georgia"/>
                <a:sym typeface="Georgia"/>
              </a:rPr>
              <a:t>The Toolkit Behind the Training</a:t>
            </a:r>
            <a:endParaRPr/>
          </a:p>
        </p:txBody>
      </p:sp>
      <p:sp>
        <p:nvSpPr>
          <p:cNvPr id="241" name="Google Shape;241;p18"/>
          <p:cNvSpPr txBox="1"/>
          <p:nvPr/>
        </p:nvSpPr>
        <p:spPr>
          <a:xfrm>
            <a:off x="621792" y="1280160"/>
            <a:ext cx="10789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Core concepts covered across the three courses</a:t>
            </a:r>
            <a:endParaRPr/>
          </a:p>
        </p:txBody>
      </p:sp>
      <p:sp>
        <p:nvSpPr>
          <p:cNvPr id="242" name="Google Shape;242;p18"/>
          <p:cNvSpPr/>
          <p:nvPr/>
        </p:nvSpPr>
        <p:spPr>
          <a:xfrm>
            <a:off x="621792" y="1847088"/>
            <a:ext cx="2606040" cy="166420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AE0E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8"/>
          <p:cNvSpPr/>
          <p:nvPr/>
        </p:nvSpPr>
        <p:spPr>
          <a:xfrm>
            <a:off x="786384" y="2002536"/>
            <a:ext cx="411480" cy="411480"/>
          </a:xfrm>
          <a:prstGeom prst="roundRect">
            <a:avLst>
              <a:gd fmla="val 16667" name="adj"/>
            </a:avLst>
          </a:prstGeom>
          <a:solidFill>
            <a:srgbClr val="18275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8"/>
          <p:cNvSpPr txBox="1"/>
          <p:nvPr/>
        </p:nvSpPr>
        <p:spPr>
          <a:xfrm>
            <a:off x="786384" y="2002536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245" name="Google Shape;245;p18"/>
          <p:cNvSpPr txBox="1"/>
          <p:nvPr/>
        </p:nvSpPr>
        <p:spPr>
          <a:xfrm>
            <a:off x="1335024" y="1993392"/>
            <a:ext cx="1709928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32A3A"/>
                </a:solidFill>
                <a:latin typeface="Arial"/>
                <a:ea typeface="Arial"/>
                <a:cs typeface="Arial"/>
                <a:sym typeface="Arial"/>
              </a:rPr>
              <a:t>Network Devices</a:t>
            </a:r>
            <a:endParaRPr/>
          </a:p>
        </p:txBody>
      </p:sp>
      <p:sp>
        <p:nvSpPr>
          <p:cNvPr id="246" name="Google Shape;246;p18"/>
          <p:cNvSpPr txBox="1"/>
          <p:nvPr/>
        </p:nvSpPr>
        <p:spPr>
          <a:xfrm>
            <a:off x="1335024" y="2414016"/>
            <a:ext cx="1709928" cy="96926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Routers, switches, hosts and the role of network media.</a:t>
            </a:r>
            <a:endParaRPr/>
          </a:p>
        </p:txBody>
      </p:sp>
      <p:sp>
        <p:nvSpPr>
          <p:cNvPr id="247" name="Google Shape;247;p18"/>
          <p:cNvSpPr/>
          <p:nvPr/>
        </p:nvSpPr>
        <p:spPr>
          <a:xfrm>
            <a:off x="3529584" y="1847088"/>
            <a:ext cx="2606040" cy="166420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AE0E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8"/>
          <p:cNvSpPr/>
          <p:nvPr/>
        </p:nvSpPr>
        <p:spPr>
          <a:xfrm>
            <a:off x="3694176" y="2002536"/>
            <a:ext cx="411480" cy="411480"/>
          </a:xfrm>
          <a:prstGeom prst="roundRect">
            <a:avLst>
              <a:gd fmla="val 16667" name="adj"/>
            </a:avLst>
          </a:prstGeom>
          <a:solidFill>
            <a:srgbClr val="18275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8"/>
          <p:cNvSpPr txBox="1"/>
          <p:nvPr/>
        </p:nvSpPr>
        <p:spPr>
          <a:xfrm>
            <a:off x="3694176" y="2002536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250" name="Google Shape;250;p18"/>
          <p:cNvSpPr txBox="1"/>
          <p:nvPr/>
        </p:nvSpPr>
        <p:spPr>
          <a:xfrm>
            <a:off x="4242816" y="1993392"/>
            <a:ext cx="1709928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32A3A"/>
                </a:solidFill>
                <a:latin typeface="Arial"/>
                <a:ea typeface="Arial"/>
                <a:cs typeface="Arial"/>
                <a:sym typeface="Arial"/>
              </a:rPr>
              <a:t>Protocols &amp; IP</a:t>
            </a:r>
            <a:endParaRPr/>
          </a:p>
        </p:txBody>
      </p:sp>
      <p:sp>
        <p:nvSpPr>
          <p:cNvPr id="251" name="Google Shape;251;p18"/>
          <p:cNvSpPr txBox="1"/>
          <p:nvPr/>
        </p:nvSpPr>
        <p:spPr>
          <a:xfrm>
            <a:off x="4242816" y="2414016"/>
            <a:ext cx="1709928" cy="96926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How protocols and IP addresses enable communication.</a:t>
            </a:r>
            <a:endParaRPr/>
          </a:p>
        </p:txBody>
      </p:sp>
      <p:sp>
        <p:nvSpPr>
          <p:cNvPr id="252" name="Google Shape;252;p18"/>
          <p:cNvSpPr/>
          <p:nvPr/>
        </p:nvSpPr>
        <p:spPr>
          <a:xfrm>
            <a:off x="6437376" y="1847088"/>
            <a:ext cx="2606040" cy="166420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AE0E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8"/>
          <p:cNvSpPr/>
          <p:nvPr/>
        </p:nvSpPr>
        <p:spPr>
          <a:xfrm>
            <a:off x="6601968" y="2002536"/>
            <a:ext cx="411480" cy="411480"/>
          </a:xfrm>
          <a:prstGeom prst="roundRect">
            <a:avLst>
              <a:gd fmla="val 16667" name="adj"/>
            </a:avLst>
          </a:prstGeom>
          <a:solidFill>
            <a:srgbClr val="18275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8"/>
          <p:cNvSpPr txBox="1"/>
          <p:nvPr/>
        </p:nvSpPr>
        <p:spPr>
          <a:xfrm>
            <a:off x="6601968" y="2002536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255" name="Google Shape;255;p18"/>
          <p:cNvSpPr txBox="1"/>
          <p:nvPr/>
        </p:nvSpPr>
        <p:spPr>
          <a:xfrm>
            <a:off x="7150608" y="1993392"/>
            <a:ext cx="1709928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32A3A"/>
                </a:solidFill>
                <a:latin typeface="Arial"/>
                <a:ea typeface="Arial"/>
                <a:cs typeface="Arial"/>
                <a:sym typeface="Arial"/>
              </a:rPr>
              <a:t>LAN Concepts</a:t>
            </a:r>
            <a:endParaRPr/>
          </a:p>
        </p:txBody>
      </p:sp>
      <p:sp>
        <p:nvSpPr>
          <p:cNvPr id="256" name="Google Shape;256;p18"/>
          <p:cNvSpPr txBox="1"/>
          <p:nvPr/>
        </p:nvSpPr>
        <p:spPr>
          <a:xfrm>
            <a:off x="7150608" y="2414016"/>
            <a:ext cx="1709928" cy="96926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Basic network setup and communication within a local network.</a:t>
            </a:r>
            <a:endParaRPr/>
          </a:p>
        </p:txBody>
      </p:sp>
      <p:sp>
        <p:nvSpPr>
          <p:cNvPr id="257" name="Google Shape;257;p18"/>
          <p:cNvSpPr/>
          <p:nvPr/>
        </p:nvSpPr>
        <p:spPr>
          <a:xfrm>
            <a:off x="9345168" y="1847088"/>
            <a:ext cx="2606040" cy="166420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AE0E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8"/>
          <p:cNvSpPr/>
          <p:nvPr/>
        </p:nvSpPr>
        <p:spPr>
          <a:xfrm>
            <a:off x="9509760" y="2002536"/>
            <a:ext cx="411480" cy="411480"/>
          </a:xfrm>
          <a:prstGeom prst="roundRect">
            <a:avLst>
              <a:gd fmla="val 16667" name="adj"/>
            </a:avLst>
          </a:prstGeom>
          <a:solidFill>
            <a:srgbClr val="18275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8"/>
          <p:cNvSpPr txBox="1"/>
          <p:nvPr/>
        </p:nvSpPr>
        <p:spPr>
          <a:xfrm>
            <a:off x="9509760" y="2002536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260" name="Google Shape;260;p18"/>
          <p:cNvSpPr txBox="1"/>
          <p:nvPr/>
        </p:nvSpPr>
        <p:spPr>
          <a:xfrm>
            <a:off x="10058400" y="1993392"/>
            <a:ext cx="1709928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32A3A"/>
                </a:solidFill>
                <a:latin typeface="Arial"/>
                <a:ea typeface="Arial"/>
                <a:cs typeface="Arial"/>
                <a:sym typeface="Arial"/>
              </a:rPr>
              <a:t>Cyber Threats</a:t>
            </a:r>
            <a:endParaRPr/>
          </a:p>
        </p:txBody>
      </p:sp>
      <p:sp>
        <p:nvSpPr>
          <p:cNvPr id="261" name="Google Shape;261;p18"/>
          <p:cNvSpPr txBox="1"/>
          <p:nvPr/>
        </p:nvSpPr>
        <p:spPr>
          <a:xfrm>
            <a:off x="10058400" y="2414016"/>
            <a:ext cx="1709928" cy="96926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Awareness of threats and risks in connected environments.</a:t>
            </a:r>
            <a:endParaRPr/>
          </a:p>
        </p:txBody>
      </p:sp>
      <p:sp>
        <p:nvSpPr>
          <p:cNvPr id="262" name="Google Shape;262;p18"/>
          <p:cNvSpPr/>
          <p:nvPr/>
        </p:nvSpPr>
        <p:spPr>
          <a:xfrm>
            <a:off x="621792" y="3931920"/>
            <a:ext cx="2606040" cy="166420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AE0E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8"/>
          <p:cNvSpPr/>
          <p:nvPr/>
        </p:nvSpPr>
        <p:spPr>
          <a:xfrm>
            <a:off x="786384" y="4087368"/>
            <a:ext cx="411480" cy="411480"/>
          </a:xfrm>
          <a:prstGeom prst="roundRect">
            <a:avLst>
              <a:gd fmla="val 16667" name="adj"/>
            </a:avLst>
          </a:prstGeom>
          <a:solidFill>
            <a:srgbClr val="18275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8"/>
          <p:cNvSpPr txBox="1"/>
          <p:nvPr/>
        </p:nvSpPr>
        <p:spPr>
          <a:xfrm>
            <a:off x="786384" y="4087368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265" name="Google Shape;265;p18"/>
          <p:cNvSpPr txBox="1"/>
          <p:nvPr/>
        </p:nvSpPr>
        <p:spPr>
          <a:xfrm>
            <a:off x="1335024" y="4078224"/>
            <a:ext cx="1709928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32A3A"/>
                </a:solidFill>
                <a:latin typeface="Arial"/>
                <a:ea typeface="Arial"/>
                <a:cs typeface="Arial"/>
                <a:sym typeface="Arial"/>
              </a:rPr>
              <a:t>Privacy &amp; Data</a:t>
            </a:r>
            <a:endParaRPr/>
          </a:p>
        </p:txBody>
      </p:sp>
      <p:sp>
        <p:nvSpPr>
          <p:cNvPr id="266" name="Google Shape;266;p18"/>
          <p:cNvSpPr txBox="1"/>
          <p:nvPr/>
        </p:nvSpPr>
        <p:spPr>
          <a:xfrm>
            <a:off x="1335024" y="4498848"/>
            <a:ext cx="1709928" cy="96926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Protecting personal information and organizational data.</a:t>
            </a:r>
            <a:endParaRPr/>
          </a:p>
        </p:txBody>
      </p:sp>
      <p:sp>
        <p:nvSpPr>
          <p:cNvPr id="267" name="Google Shape;267;p18"/>
          <p:cNvSpPr/>
          <p:nvPr/>
        </p:nvSpPr>
        <p:spPr>
          <a:xfrm>
            <a:off x="3529584" y="3931920"/>
            <a:ext cx="2606040" cy="166420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AE0E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8"/>
          <p:cNvSpPr/>
          <p:nvPr/>
        </p:nvSpPr>
        <p:spPr>
          <a:xfrm>
            <a:off x="3694176" y="4087368"/>
            <a:ext cx="411480" cy="411480"/>
          </a:xfrm>
          <a:prstGeom prst="roundRect">
            <a:avLst>
              <a:gd fmla="val 16667" name="adj"/>
            </a:avLst>
          </a:prstGeom>
          <a:solidFill>
            <a:srgbClr val="18275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8"/>
          <p:cNvSpPr txBox="1"/>
          <p:nvPr/>
        </p:nvSpPr>
        <p:spPr>
          <a:xfrm>
            <a:off x="3694176" y="4087368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  <p:sp>
        <p:nvSpPr>
          <p:cNvPr id="270" name="Google Shape;270;p18"/>
          <p:cNvSpPr txBox="1"/>
          <p:nvPr/>
        </p:nvSpPr>
        <p:spPr>
          <a:xfrm>
            <a:off x="4242816" y="4078224"/>
            <a:ext cx="1709928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32A3A"/>
                </a:solidFill>
                <a:latin typeface="Arial"/>
                <a:ea typeface="Arial"/>
                <a:cs typeface="Arial"/>
                <a:sym typeface="Arial"/>
              </a:rPr>
              <a:t>Internet of Things</a:t>
            </a:r>
            <a:endParaRPr/>
          </a:p>
        </p:txBody>
      </p:sp>
      <p:sp>
        <p:nvSpPr>
          <p:cNvPr id="271" name="Google Shape;271;p18"/>
          <p:cNvSpPr txBox="1"/>
          <p:nvPr/>
        </p:nvSpPr>
        <p:spPr>
          <a:xfrm>
            <a:off x="4242816" y="4498848"/>
            <a:ext cx="1709928" cy="96926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Connected devices, data exchange and smart environments.</a:t>
            </a:r>
            <a:endParaRPr/>
          </a:p>
        </p:txBody>
      </p:sp>
      <p:sp>
        <p:nvSpPr>
          <p:cNvPr id="272" name="Google Shape;272;p18"/>
          <p:cNvSpPr/>
          <p:nvPr/>
        </p:nvSpPr>
        <p:spPr>
          <a:xfrm>
            <a:off x="6437376" y="3931920"/>
            <a:ext cx="2606040" cy="166420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AE0E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8"/>
          <p:cNvSpPr/>
          <p:nvPr/>
        </p:nvSpPr>
        <p:spPr>
          <a:xfrm>
            <a:off x="6601968" y="4087368"/>
            <a:ext cx="411480" cy="411480"/>
          </a:xfrm>
          <a:prstGeom prst="roundRect">
            <a:avLst>
              <a:gd fmla="val 16667" name="adj"/>
            </a:avLst>
          </a:prstGeom>
          <a:solidFill>
            <a:srgbClr val="18275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8"/>
          <p:cNvSpPr txBox="1"/>
          <p:nvPr/>
        </p:nvSpPr>
        <p:spPr>
          <a:xfrm>
            <a:off x="6601968" y="4087368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/>
          </a:p>
        </p:txBody>
      </p:sp>
      <p:sp>
        <p:nvSpPr>
          <p:cNvPr id="275" name="Google Shape;275;p18"/>
          <p:cNvSpPr txBox="1"/>
          <p:nvPr/>
        </p:nvSpPr>
        <p:spPr>
          <a:xfrm>
            <a:off x="7150608" y="4078224"/>
            <a:ext cx="1709928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32A3A"/>
                </a:solidFill>
                <a:latin typeface="Arial"/>
                <a:ea typeface="Arial"/>
                <a:cs typeface="Arial"/>
                <a:sym typeface="Arial"/>
              </a:rPr>
              <a:t>Data Analytics</a:t>
            </a:r>
            <a:endParaRPr/>
          </a:p>
        </p:txBody>
      </p:sp>
      <p:sp>
        <p:nvSpPr>
          <p:cNvPr id="276" name="Google Shape;276;p18"/>
          <p:cNvSpPr txBox="1"/>
          <p:nvPr/>
        </p:nvSpPr>
        <p:spPr>
          <a:xfrm>
            <a:off x="7150608" y="4498848"/>
            <a:ext cx="1709928" cy="96926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The role of data in digital transformation.</a:t>
            </a:r>
            <a:endParaRPr/>
          </a:p>
        </p:txBody>
      </p:sp>
      <p:sp>
        <p:nvSpPr>
          <p:cNvPr id="277" name="Google Shape;277;p18"/>
          <p:cNvSpPr/>
          <p:nvPr/>
        </p:nvSpPr>
        <p:spPr>
          <a:xfrm>
            <a:off x="9345168" y="3931920"/>
            <a:ext cx="2606040" cy="166420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AE0E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8"/>
          <p:cNvSpPr/>
          <p:nvPr/>
        </p:nvSpPr>
        <p:spPr>
          <a:xfrm>
            <a:off x="9509760" y="4087368"/>
            <a:ext cx="411480" cy="411480"/>
          </a:xfrm>
          <a:prstGeom prst="roundRect">
            <a:avLst>
              <a:gd fmla="val 16667" name="adj"/>
            </a:avLst>
          </a:prstGeom>
          <a:solidFill>
            <a:srgbClr val="18275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8"/>
          <p:cNvSpPr txBox="1"/>
          <p:nvPr/>
        </p:nvSpPr>
        <p:spPr>
          <a:xfrm>
            <a:off x="9509760" y="4087368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/>
          </a:p>
        </p:txBody>
      </p:sp>
      <p:sp>
        <p:nvSpPr>
          <p:cNvPr id="280" name="Google Shape;280;p18"/>
          <p:cNvSpPr txBox="1"/>
          <p:nvPr/>
        </p:nvSpPr>
        <p:spPr>
          <a:xfrm>
            <a:off x="10058400" y="4078224"/>
            <a:ext cx="1709928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32A3A"/>
                </a:solidFill>
                <a:latin typeface="Arial"/>
                <a:ea typeface="Arial"/>
                <a:cs typeface="Arial"/>
                <a:sym typeface="Arial"/>
              </a:rPr>
              <a:t>Artificial Intelligence</a:t>
            </a:r>
            <a:endParaRPr/>
          </a:p>
        </p:txBody>
      </p:sp>
      <p:sp>
        <p:nvSpPr>
          <p:cNvPr id="281" name="Google Shape;281;p18"/>
          <p:cNvSpPr txBox="1"/>
          <p:nvPr/>
        </p:nvSpPr>
        <p:spPr>
          <a:xfrm>
            <a:off x="10058400" y="4498848"/>
            <a:ext cx="1709928" cy="96926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An emerging technology highlighted in the IoT course.</a:t>
            </a:r>
            <a:endParaRPr/>
          </a:p>
        </p:txBody>
      </p:sp>
      <p:sp>
        <p:nvSpPr>
          <p:cNvPr id="282" name="Google Shape;282;p18"/>
          <p:cNvSpPr txBox="1"/>
          <p:nvPr/>
        </p:nvSpPr>
        <p:spPr>
          <a:xfrm>
            <a:off x="457200" y="6473952"/>
            <a:ext cx="6858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Cisco Networking Academy Training  •  Ankush Raj</a:t>
            </a:r>
            <a:endParaRPr/>
          </a:p>
        </p:txBody>
      </p:sp>
      <p:sp>
        <p:nvSpPr>
          <p:cNvPr id="283" name="Google Shape;283;p18"/>
          <p:cNvSpPr txBox="1"/>
          <p:nvPr/>
        </p:nvSpPr>
        <p:spPr>
          <a:xfrm>
            <a:off x="11247120" y="6428232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9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8275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9"/>
          <p:cNvSpPr txBox="1"/>
          <p:nvPr/>
        </p:nvSpPr>
        <p:spPr>
          <a:xfrm>
            <a:off x="594360" y="347472"/>
            <a:ext cx="4114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E0B02C"/>
                </a:solidFill>
                <a:latin typeface="Arial"/>
                <a:ea typeface="Arial"/>
                <a:cs typeface="Arial"/>
                <a:sym typeface="Arial"/>
              </a:rPr>
              <a:t>LEARNING ARCHITECTURE</a:t>
            </a:r>
            <a:endParaRPr/>
          </a:p>
        </p:txBody>
      </p:sp>
      <p:sp>
        <p:nvSpPr>
          <p:cNvPr id="290" name="Google Shape;290;p19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From Course Content to Demonstrable Learning</a:t>
            </a:r>
            <a:endParaRPr/>
          </a:p>
        </p:txBody>
      </p:sp>
      <p:sp>
        <p:nvSpPr>
          <p:cNvPr id="291" name="Google Shape;291;p19"/>
          <p:cNvSpPr txBox="1"/>
          <p:nvPr/>
        </p:nvSpPr>
        <p:spPr>
          <a:xfrm>
            <a:off x="621792" y="1280160"/>
            <a:ext cx="10789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D2D9EE"/>
                </a:solidFill>
                <a:latin typeface="Arial"/>
                <a:ea typeface="Arial"/>
                <a:cs typeface="Arial"/>
                <a:sym typeface="Arial"/>
              </a:rPr>
              <a:t>A simple view of how the training translated into outcomes</a:t>
            </a:r>
            <a:endParaRPr/>
          </a:p>
        </p:txBody>
      </p:sp>
      <p:sp>
        <p:nvSpPr>
          <p:cNvPr id="292" name="Google Shape;292;p19"/>
          <p:cNvSpPr/>
          <p:nvPr/>
        </p:nvSpPr>
        <p:spPr>
          <a:xfrm>
            <a:off x="777240" y="1874519"/>
            <a:ext cx="10652760" cy="603504"/>
          </a:xfrm>
          <a:prstGeom prst="roundRect">
            <a:avLst>
              <a:gd fmla="val 16667" name="adj"/>
            </a:avLst>
          </a:prstGeom>
          <a:solidFill>
            <a:srgbClr val="1F347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9"/>
          <p:cNvSpPr/>
          <p:nvPr/>
        </p:nvSpPr>
        <p:spPr>
          <a:xfrm>
            <a:off x="960120" y="1975103"/>
            <a:ext cx="384048" cy="384048"/>
          </a:xfrm>
          <a:prstGeom prst="roundRect">
            <a:avLst>
              <a:gd fmla="val 16667" name="adj"/>
            </a:avLst>
          </a:prstGeom>
          <a:solidFill>
            <a:srgbClr val="2A408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9"/>
          <p:cNvSpPr txBox="1"/>
          <p:nvPr/>
        </p:nvSpPr>
        <p:spPr>
          <a:xfrm>
            <a:off x="960120" y="1975103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295" name="Google Shape;295;p19"/>
          <p:cNvSpPr txBox="1"/>
          <p:nvPr/>
        </p:nvSpPr>
        <p:spPr>
          <a:xfrm>
            <a:off x="1572768" y="1993391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COURSE MODULES</a:t>
            </a:r>
            <a:endParaRPr/>
          </a:p>
        </p:txBody>
      </p:sp>
      <p:sp>
        <p:nvSpPr>
          <p:cNvPr id="296" name="Google Shape;296;p19"/>
          <p:cNvSpPr txBox="1"/>
          <p:nvPr/>
        </p:nvSpPr>
        <p:spPr>
          <a:xfrm>
            <a:off x="3840480" y="1993391"/>
            <a:ext cx="71780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19" u="none" cap="none" strike="noStrike">
                <a:solidFill>
                  <a:srgbClr val="D3DCF3"/>
                </a:solidFill>
                <a:latin typeface="Arial"/>
                <a:ea typeface="Arial"/>
                <a:cs typeface="Arial"/>
                <a:sym typeface="Arial"/>
              </a:rPr>
              <a:t>Structured lessons covering networking, cybersecurity and IoT.</a:t>
            </a:r>
            <a:endParaRPr/>
          </a:p>
        </p:txBody>
      </p:sp>
      <p:cxnSp>
        <p:nvCxnSpPr>
          <p:cNvPr id="297" name="Google Shape;297;p19"/>
          <p:cNvCxnSpPr/>
          <p:nvPr/>
        </p:nvCxnSpPr>
        <p:spPr>
          <a:xfrm>
            <a:off x="6089904" y="2487168"/>
            <a:ext cx="0" cy="192024"/>
          </a:xfrm>
          <a:prstGeom prst="straightConnector1">
            <a:avLst/>
          </a:prstGeom>
          <a:noFill/>
          <a:ln cap="flat" cmpd="sng" w="19050">
            <a:solidFill>
              <a:srgbClr val="E0B02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98" name="Google Shape;298;p19"/>
          <p:cNvSpPr/>
          <p:nvPr/>
        </p:nvSpPr>
        <p:spPr>
          <a:xfrm>
            <a:off x="777240" y="2660904"/>
            <a:ext cx="10652760" cy="603504"/>
          </a:xfrm>
          <a:prstGeom prst="roundRect">
            <a:avLst>
              <a:gd fmla="val 16667" name="adj"/>
            </a:avLst>
          </a:prstGeom>
          <a:solidFill>
            <a:srgbClr val="1F347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9"/>
          <p:cNvSpPr/>
          <p:nvPr/>
        </p:nvSpPr>
        <p:spPr>
          <a:xfrm>
            <a:off x="960120" y="2761488"/>
            <a:ext cx="384048" cy="384048"/>
          </a:xfrm>
          <a:prstGeom prst="roundRect">
            <a:avLst>
              <a:gd fmla="val 16667" name="adj"/>
            </a:avLst>
          </a:prstGeom>
          <a:solidFill>
            <a:srgbClr val="2A408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9"/>
          <p:cNvSpPr txBox="1"/>
          <p:nvPr/>
        </p:nvSpPr>
        <p:spPr>
          <a:xfrm>
            <a:off x="960120" y="276148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301" name="Google Shape;301;p19"/>
          <p:cNvSpPr txBox="1"/>
          <p:nvPr/>
        </p:nvSpPr>
        <p:spPr>
          <a:xfrm>
            <a:off x="1572768" y="2779776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PRACTICE &amp; ACTIVITIES</a:t>
            </a:r>
            <a:endParaRPr/>
          </a:p>
        </p:txBody>
      </p:sp>
      <p:sp>
        <p:nvSpPr>
          <p:cNvPr id="302" name="Google Shape;302;p19"/>
          <p:cNvSpPr txBox="1"/>
          <p:nvPr/>
        </p:nvSpPr>
        <p:spPr>
          <a:xfrm>
            <a:off x="3840480" y="2779776"/>
            <a:ext cx="71780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19" u="none" cap="none" strike="noStrike">
                <a:solidFill>
                  <a:srgbClr val="D3DCF3"/>
                </a:solidFill>
                <a:latin typeface="Arial"/>
                <a:ea typeface="Arial"/>
                <a:cs typeface="Arial"/>
                <a:sym typeface="Arial"/>
              </a:rPr>
              <a:t>Practice labs, interactive activities, quizzes and course exercises.</a:t>
            </a:r>
            <a:endParaRPr/>
          </a:p>
        </p:txBody>
      </p:sp>
      <p:cxnSp>
        <p:nvCxnSpPr>
          <p:cNvPr id="303" name="Google Shape;303;p19"/>
          <p:cNvCxnSpPr/>
          <p:nvPr/>
        </p:nvCxnSpPr>
        <p:spPr>
          <a:xfrm>
            <a:off x="6089904" y="3273552"/>
            <a:ext cx="0" cy="192024"/>
          </a:xfrm>
          <a:prstGeom prst="straightConnector1">
            <a:avLst/>
          </a:prstGeom>
          <a:noFill/>
          <a:ln cap="flat" cmpd="sng" w="19050">
            <a:solidFill>
              <a:srgbClr val="E0B02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04" name="Google Shape;304;p19"/>
          <p:cNvSpPr/>
          <p:nvPr/>
        </p:nvSpPr>
        <p:spPr>
          <a:xfrm>
            <a:off x="777240" y="3447288"/>
            <a:ext cx="10652760" cy="603504"/>
          </a:xfrm>
          <a:prstGeom prst="roundRect">
            <a:avLst>
              <a:gd fmla="val 16667" name="adj"/>
            </a:avLst>
          </a:prstGeom>
          <a:solidFill>
            <a:srgbClr val="1F347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9"/>
          <p:cNvSpPr/>
          <p:nvPr/>
        </p:nvSpPr>
        <p:spPr>
          <a:xfrm>
            <a:off x="960120" y="3547872"/>
            <a:ext cx="384048" cy="384048"/>
          </a:xfrm>
          <a:prstGeom prst="roundRect">
            <a:avLst>
              <a:gd fmla="val 16667" name="adj"/>
            </a:avLst>
          </a:prstGeom>
          <a:solidFill>
            <a:srgbClr val="2A408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9"/>
          <p:cNvSpPr txBox="1"/>
          <p:nvPr/>
        </p:nvSpPr>
        <p:spPr>
          <a:xfrm>
            <a:off x="960120" y="3547872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307" name="Google Shape;307;p19"/>
          <p:cNvSpPr txBox="1"/>
          <p:nvPr/>
        </p:nvSpPr>
        <p:spPr>
          <a:xfrm>
            <a:off x="1572768" y="3566160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ASSESSMENT</a:t>
            </a:r>
            <a:endParaRPr/>
          </a:p>
        </p:txBody>
      </p:sp>
      <p:sp>
        <p:nvSpPr>
          <p:cNvPr id="308" name="Google Shape;308;p19"/>
          <p:cNvSpPr txBox="1"/>
          <p:nvPr/>
        </p:nvSpPr>
        <p:spPr>
          <a:xfrm>
            <a:off x="3840480" y="3566160"/>
            <a:ext cx="71780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19" u="none" cap="none" strike="noStrike">
                <a:solidFill>
                  <a:srgbClr val="D3DCF3"/>
                </a:solidFill>
                <a:latin typeface="Arial"/>
                <a:ea typeface="Arial"/>
                <a:cs typeface="Arial"/>
                <a:sym typeface="Arial"/>
              </a:rPr>
              <a:t>Final tests / exams used to check understanding.</a:t>
            </a:r>
            <a:endParaRPr/>
          </a:p>
        </p:txBody>
      </p:sp>
      <p:cxnSp>
        <p:nvCxnSpPr>
          <p:cNvPr id="309" name="Google Shape;309;p19"/>
          <p:cNvCxnSpPr/>
          <p:nvPr/>
        </p:nvCxnSpPr>
        <p:spPr>
          <a:xfrm>
            <a:off x="6089904" y="4059936"/>
            <a:ext cx="0" cy="192023"/>
          </a:xfrm>
          <a:prstGeom prst="straightConnector1">
            <a:avLst/>
          </a:prstGeom>
          <a:noFill/>
          <a:ln cap="flat" cmpd="sng" w="19050">
            <a:solidFill>
              <a:srgbClr val="E0B02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10" name="Google Shape;310;p19"/>
          <p:cNvSpPr/>
          <p:nvPr/>
        </p:nvSpPr>
        <p:spPr>
          <a:xfrm>
            <a:off x="777240" y="4233672"/>
            <a:ext cx="10652760" cy="603504"/>
          </a:xfrm>
          <a:prstGeom prst="roundRect">
            <a:avLst>
              <a:gd fmla="val 16667" name="adj"/>
            </a:avLst>
          </a:prstGeom>
          <a:solidFill>
            <a:srgbClr val="1F347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9"/>
          <p:cNvSpPr/>
          <p:nvPr/>
        </p:nvSpPr>
        <p:spPr>
          <a:xfrm>
            <a:off x="960120" y="4334256"/>
            <a:ext cx="384048" cy="384048"/>
          </a:xfrm>
          <a:prstGeom prst="roundRect">
            <a:avLst>
              <a:gd fmla="val 16667" name="adj"/>
            </a:avLst>
          </a:prstGeom>
          <a:solidFill>
            <a:srgbClr val="2A408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9"/>
          <p:cNvSpPr txBox="1"/>
          <p:nvPr/>
        </p:nvSpPr>
        <p:spPr>
          <a:xfrm>
            <a:off x="960120" y="433425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313" name="Google Shape;313;p19"/>
          <p:cNvSpPr txBox="1"/>
          <p:nvPr/>
        </p:nvSpPr>
        <p:spPr>
          <a:xfrm>
            <a:off x="1572768" y="4352544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COMPLETION</a:t>
            </a:r>
            <a:endParaRPr/>
          </a:p>
        </p:txBody>
      </p:sp>
      <p:sp>
        <p:nvSpPr>
          <p:cNvPr id="314" name="Google Shape;314;p19"/>
          <p:cNvSpPr txBox="1"/>
          <p:nvPr/>
        </p:nvSpPr>
        <p:spPr>
          <a:xfrm>
            <a:off x="3840480" y="4352544"/>
            <a:ext cx="71780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19" u="none" cap="none" strike="noStrike">
                <a:solidFill>
                  <a:srgbClr val="D3DCF3"/>
                </a:solidFill>
                <a:latin typeface="Arial"/>
                <a:ea typeface="Arial"/>
                <a:cs typeface="Arial"/>
                <a:sym typeface="Arial"/>
              </a:rPr>
              <a:t>Successful completion of each course and its corresponding credential.</a:t>
            </a:r>
            <a:endParaRPr/>
          </a:p>
        </p:txBody>
      </p:sp>
      <p:cxnSp>
        <p:nvCxnSpPr>
          <p:cNvPr id="315" name="Google Shape;315;p19"/>
          <p:cNvCxnSpPr/>
          <p:nvPr/>
        </p:nvCxnSpPr>
        <p:spPr>
          <a:xfrm>
            <a:off x="6089904" y="4846320"/>
            <a:ext cx="0" cy="192024"/>
          </a:xfrm>
          <a:prstGeom prst="straightConnector1">
            <a:avLst/>
          </a:prstGeom>
          <a:noFill/>
          <a:ln cap="flat" cmpd="sng" w="19050">
            <a:solidFill>
              <a:srgbClr val="E0B02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16" name="Google Shape;316;p19"/>
          <p:cNvSpPr/>
          <p:nvPr/>
        </p:nvSpPr>
        <p:spPr>
          <a:xfrm>
            <a:off x="777240" y="5020056"/>
            <a:ext cx="10652760" cy="603504"/>
          </a:xfrm>
          <a:prstGeom prst="roundRect">
            <a:avLst>
              <a:gd fmla="val 16667" name="adj"/>
            </a:avLst>
          </a:prstGeom>
          <a:solidFill>
            <a:srgbClr val="1F347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9"/>
          <p:cNvSpPr/>
          <p:nvPr/>
        </p:nvSpPr>
        <p:spPr>
          <a:xfrm>
            <a:off x="960120" y="5120640"/>
            <a:ext cx="384048" cy="384048"/>
          </a:xfrm>
          <a:prstGeom prst="roundRect">
            <a:avLst>
              <a:gd fmla="val 16667" name="adj"/>
            </a:avLst>
          </a:prstGeom>
          <a:solidFill>
            <a:srgbClr val="2A408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9"/>
          <p:cNvSpPr txBox="1"/>
          <p:nvPr/>
        </p:nvSpPr>
        <p:spPr>
          <a:xfrm>
            <a:off x="960120" y="512064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319" name="Google Shape;319;p19"/>
          <p:cNvSpPr txBox="1"/>
          <p:nvPr/>
        </p:nvSpPr>
        <p:spPr>
          <a:xfrm>
            <a:off x="1572768" y="5138928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LEARNING OUTCOME</a:t>
            </a:r>
            <a:endParaRPr/>
          </a:p>
        </p:txBody>
      </p:sp>
      <p:sp>
        <p:nvSpPr>
          <p:cNvPr id="320" name="Google Shape;320;p19"/>
          <p:cNvSpPr txBox="1"/>
          <p:nvPr/>
        </p:nvSpPr>
        <p:spPr>
          <a:xfrm>
            <a:off x="3840480" y="5138928"/>
            <a:ext cx="71780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19" u="none" cap="none" strike="noStrike">
                <a:solidFill>
                  <a:srgbClr val="D3DCF3"/>
                </a:solidFill>
                <a:latin typeface="Arial"/>
                <a:ea typeface="Arial"/>
                <a:cs typeface="Arial"/>
                <a:sym typeface="Arial"/>
              </a:rPr>
              <a:t>A connected foundation for further technical study.</a:t>
            </a:r>
            <a:endParaRPr/>
          </a:p>
        </p:txBody>
      </p:sp>
      <p:sp>
        <p:nvSpPr>
          <p:cNvPr id="321" name="Google Shape;321;p19"/>
          <p:cNvSpPr txBox="1"/>
          <p:nvPr/>
        </p:nvSpPr>
        <p:spPr>
          <a:xfrm>
            <a:off x="457200" y="6473952"/>
            <a:ext cx="6858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C4CDE5"/>
                </a:solidFill>
                <a:latin typeface="Arial"/>
                <a:ea typeface="Arial"/>
                <a:cs typeface="Arial"/>
                <a:sym typeface="Arial"/>
              </a:rPr>
              <a:t>Cisco Networking Academy Training  •  Ankush Raj</a:t>
            </a:r>
            <a:endParaRPr/>
          </a:p>
        </p:txBody>
      </p:sp>
      <p:sp>
        <p:nvSpPr>
          <p:cNvPr id="322" name="Google Shape;322;p19"/>
          <p:cNvSpPr txBox="1"/>
          <p:nvPr/>
        </p:nvSpPr>
        <p:spPr>
          <a:xfrm>
            <a:off x="11247120" y="6428232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C4CDE5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0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EFF3F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0"/>
          <p:cNvSpPr txBox="1"/>
          <p:nvPr/>
        </p:nvSpPr>
        <p:spPr>
          <a:xfrm>
            <a:off x="594360" y="347472"/>
            <a:ext cx="4114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E0B02C"/>
                </a:solidFill>
                <a:latin typeface="Arial"/>
                <a:ea typeface="Arial"/>
                <a:cs typeface="Arial"/>
                <a:sym typeface="Arial"/>
              </a:rPr>
              <a:t>METHODOLOGY</a:t>
            </a:r>
            <a:endParaRPr/>
          </a:p>
        </p:txBody>
      </p:sp>
      <p:sp>
        <p:nvSpPr>
          <p:cNvPr id="329" name="Google Shape;329;p20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8275B"/>
                </a:solidFill>
                <a:latin typeface="Georgia"/>
                <a:ea typeface="Georgia"/>
                <a:cs typeface="Georgia"/>
                <a:sym typeface="Georgia"/>
              </a:rPr>
              <a:t>The Learning Process</a:t>
            </a:r>
            <a:endParaRPr/>
          </a:p>
        </p:txBody>
      </p:sp>
      <p:sp>
        <p:nvSpPr>
          <p:cNvPr id="330" name="Google Shape;330;p20"/>
          <p:cNvSpPr txBox="1"/>
          <p:nvPr/>
        </p:nvSpPr>
        <p:spPr>
          <a:xfrm>
            <a:off x="621792" y="1280160"/>
            <a:ext cx="10789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A repeatable approach used across all three courses</a:t>
            </a:r>
            <a:endParaRPr/>
          </a:p>
        </p:txBody>
      </p:sp>
      <p:sp>
        <p:nvSpPr>
          <p:cNvPr id="331" name="Google Shape;331;p20"/>
          <p:cNvSpPr/>
          <p:nvPr/>
        </p:nvSpPr>
        <p:spPr>
          <a:xfrm>
            <a:off x="621792" y="2011680"/>
            <a:ext cx="1993392" cy="3246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AE0E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0"/>
          <p:cNvSpPr/>
          <p:nvPr/>
        </p:nvSpPr>
        <p:spPr>
          <a:xfrm>
            <a:off x="1307592" y="2267712"/>
            <a:ext cx="621792" cy="621792"/>
          </a:xfrm>
          <a:prstGeom prst="roundRect">
            <a:avLst>
              <a:gd fmla="val 16667" name="adj"/>
            </a:avLst>
          </a:prstGeom>
          <a:solidFill>
            <a:srgbClr val="18275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0"/>
          <p:cNvSpPr txBox="1"/>
          <p:nvPr/>
        </p:nvSpPr>
        <p:spPr>
          <a:xfrm>
            <a:off x="1307592" y="2267712"/>
            <a:ext cx="62179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334" name="Google Shape;334;p20"/>
          <p:cNvSpPr txBox="1"/>
          <p:nvPr/>
        </p:nvSpPr>
        <p:spPr>
          <a:xfrm>
            <a:off x="804672" y="3154680"/>
            <a:ext cx="1627632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232A3A"/>
                </a:solidFill>
                <a:latin typeface="Arial"/>
                <a:ea typeface="Arial"/>
                <a:cs typeface="Arial"/>
                <a:sym typeface="Arial"/>
              </a:rPr>
              <a:t>Learn</a:t>
            </a:r>
            <a:endParaRPr/>
          </a:p>
        </p:txBody>
      </p:sp>
      <p:sp>
        <p:nvSpPr>
          <p:cNvPr id="335" name="Google Shape;335;p20"/>
          <p:cNvSpPr txBox="1"/>
          <p:nvPr/>
        </p:nvSpPr>
        <p:spPr>
          <a:xfrm>
            <a:off x="804672" y="3675887"/>
            <a:ext cx="1627632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19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Study the course modules and understand the concepts before moving forward.</a:t>
            </a:r>
            <a:endParaRPr/>
          </a:p>
        </p:txBody>
      </p:sp>
      <p:cxnSp>
        <p:nvCxnSpPr>
          <p:cNvPr id="336" name="Google Shape;336;p20"/>
          <p:cNvCxnSpPr/>
          <p:nvPr/>
        </p:nvCxnSpPr>
        <p:spPr>
          <a:xfrm>
            <a:off x="2633472" y="3200400"/>
            <a:ext cx="210312" cy="0"/>
          </a:xfrm>
          <a:prstGeom prst="straightConnector1">
            <a:avLst/>
          </a:prstGeom>
          <a:noFill/>
          <a:ln cap="flat" cmpd="sng" w="19050">
            <a:solidFill>
              <a:srgbClr val="E0B02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37" name="Google Shape;337;p20"/>
          <p:cNvSpPr/>
          <p:nvPr/>
        </p:nvSpPr>
        <p:spPr>
          <a:xfrm>
            <a:off x="2898648" y="2011680"/>
            <a:ext cx="1993392" cy="3246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AE0E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0"/>
          <p:cNvSpPr/>
          <p:nvPr/>
        </p:nvSpPr>
        <p:spPr>
          <a:xfrm>
            <a:off x="3584448" y="2267712"/>
            <a:ext cx="621792" cy="621792"/>
          </a:xfrm>
          <a:prstGeom prst="roundRect">
            <a:avLst>
              <a:gd fmla="val 16667" name="adj"/>
            </a:avLst>
          </a:prstGeom>
          <a:solidFill>
            <a:srgbClr val="18275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0"/>
          <p:cNvSpPr txBox="1"/>
          <p:nvPr/>
        </p:nvSpPr>
        <p:spPr>
          <a:xfrm>
            <a:off x="3584448" y="2267712"/>
            <a:ext cx="62179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340" name="Google Shape;340;p20"/>
          <p:cNvSpPr txBox="1"/>
          <p:nvPr/>
        </p:nvSpPr>
        <p:spPr>
          <a:xfrm>
            <a:off x="3081528" y="3154680"/>
            <a:ext cx="1627632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232A3A"/>
                </a:solidFill>
                <a:latin typeface="Arial"/>
                <a:ea typeface="Arial"/>
                <a:cs typeface="Arial"/>
                <a:sym typeface="Arial"/>
              </a:rPr>
              <a:t>Practice</a:t>
            </a:r>
            <a:endParaRPr/>
          </a:p>
        </p:txBody>
      </p:sp>
      <p:sp>
        <p:nvSpPr>
          <p:cNvPr id="341" name="Google Shape;341;p20"/>
          <p:cNvSpPr txBox="1"/>
          <p:nvPr/>
        </p:nvSpPr>
        <p:spPr>
          <a:xfrm>
            <a:off x="3081528" y="3675887"/>
            <a:ext cx="1627632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19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Use labs, interactive activities, quizzes and course exercises where provided.</a:t>
            </a:r>
            <a:endParaRPr/>
          </a:p>
        </p:txBody>
      </p:sp>
      <p:cxnSp>
        <p:nvCxnSpPr>
          <p:cNvPr id="342" name="Google Shape;342;p20"/>
          <p:cNvCxnSpPr/>
          <p:nvPr/>
        </p:nvCxnSpPr>
        <p:spPr>
          <a:xfrm>
            <a:off x="4910328" y="3200400"/>
            <a:ext cx="210312" cy="0"/>
          </a:xfrm>
          <a:prstGeom prst="straightConnector1">
            <a:avLst/>
          </a:prstGeom>
          <a:noFill/>
          <a:ln cap="flat" cmpd="sng" w="19050">
            <a:solidFill>
              <a:srgbClr val="E0B02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43" name="Google Shape;343;p20"/>
          <p:cNvSpPr/>
          <p:nvPr/>
        </p:nvSpPr>
        <p:spPr>
          <a:xfrm>
            <a:off x="5175504" y="2011680"/>
            <a:ext cx="1993392" cy="3246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AE0E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20"/>
          <p:cNvSpPr/>
          <p:nvPr/>
        </p:nvSpPr>
        <p:spPr>
          <a:xfrm>
            <a:off x="5861304" y="2267712"/>
            <a:ext cx="621792" cy="621792"/>
          </a:xfrm>
          <a:prstGeom prst="roundRect">
            <a:avLst>
              <a:gd fmla="val 16667" name="adj"/>
            </a:avLst>
          </a:prstGeom>
          <a:solidFill>
            <a:srgbClr val="18275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20"/>
          <p:cNvSpPr txBox="1"/>
          <p:nvPr/>
        </p:nvSpPr>
        <p:spPr>
          <a:xfrm>
            <a:off x="5861304" y="2267712"/>
            <a:ext cx="62179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346" name="Google Shape;346;p20"/>
          <p:cNvSpPr txBox="1"/>
          <p:nvPr/>
        </p:nvSpPr>
        <p:spPr>
          <a:xfrm>
            <a:off x="5358384" y="3154680"/>
            <a:ext cx="1627632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232A3A"/>
                </a:solidFill>
                <a:latin typeface="Arial"/>
                <a:ea typeface="Arial"/>
                <a:cs typeface="Arial"/>
                <a:sym typeface="Arial"/>
              </a:rPr>
              <a:t>Assess</a:t>
            </a:r>
            <a:endParaRPr/>
          </a:p>
        </p:txBody>
      </p:sp>
      <p:sp>
        <p:nvSpPr>
          <p:cNvPr id="347" name="Google Shape;347;p20"/>
          <p:cNvSpPr txBox="1"/>
          <p:nvPr/>
        </p:nvSpPr>
        <p:spPr>
          <a:xfrm>
            <a:off x="5358384" y="3675887"/>
            <a:ext cx="1627632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19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Complete knowledge checks and the final assessment for each course.</a:t>
            </a:r>
            <a:endParaRPr/>
          </a:p>
        </p:txBody>
      </p:sp>
      <p:cxnSp>
        <p:nvCxnSpPr>
          <p:cNvPr id="348" name="Google Shape;348;p20"/>
          <p:cNvCxnSpPr/>
          <p:nvPr/>
        </p:nvCxnSpPr>
        <p:spPr>
          <a:xfrm>
            <a:off x="7187184" y="3200400"/>
            <a:ext cx="210312" cy="0"/>
          </a:xfrm>
          <a:prstGeom prst="straightConnector1">
            <a:avLst/>
          </a:prstGeom>
          <a:noFill/>
          <a:ln cap="flat" cmpd="sng" w="19050">
            <a:solidFill>
              <a:srgbClr val="E0B02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49" name="Google Shape;349;p20"/>
          <p:cNvSpPr/>
          <p:nvPr/>
        </p:nvSpPr>
        <p:spPr>
          <a:xfrm>
            <a:off x="7452360" y="2011680"/>
            <a:ext cx="1993392" cy="3246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AE0E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0"/>
          <p:cNvSpPr/>
          <p:nvPr/>
        </p:nvSpPr>
        <p:spPr>
          <a:xfrm>
            <a:off x="8138160" y="2267712"/>
            <a:ext cx="621792" cy="621792"/>
          </a:xfrm>
          <a:prstGeom prst="roundRect">
            <a:avLst>
              <a:gd fmla="val 16667" name="adj"/>
            </a:avLst>
          </a:prstGeom>
          <a:solidFill>
            <a:srgbClr val="18275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0"/>
          <p:cNvSpPr txBox="1"/>
          <p:nvPr/>
        </p:nvSpPr>
        <p:spPr>
          <a:xfrm>
            <a:off x="8138160" y="2267712"/>
            <a:ext cx="62179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352" name="Google Shape;352;p20"/>
          <p:cNvSpPr txBox="1"/>
          <p:nvPr/>
        </p:nvSpPr>
        <p:spPr>
          <a:xfrm>
            <a:off x="7635240" y="3154680"/>
            <a:ext cx="1627632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232A3A"/>
                </a:solidFill>
                <a:latin typeface="Arial"/>
                <a:ea typeface="Arial"/>
                <a:cs typeface="Arial"/>
                <a:sym typeface="Arial"/>
              </a:rPr>
              <a:t>Review</a:t>
            </a:r>
            <a:endParaRPr/>
          </a:p>
        </p:txBody>
      </p:sp>
      <p:sp>
        <p:nvSpPr>
          <p:cNvPr id="353" name="Google Shape;353;p20"/>
          <p:cNvSpPr txBox="1"/>
          <p:nvPr/>
        </p:nvSpPr>
        <p:spPr>
          <a:xfrm>
            <a:off x="7635240" y="3675887"/>
            <a:ext cx="1627632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19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Revisit difficult concepts and connect ideas across networking, security and IoT.</a:t>
            </a:r>
            <a:endParaRPr/>
          </a:p>
        </p:txBody>
      </p:sp>
      <p:cxnSp>
        <p:nvCxnSpPr>
          <p:cNvPr id="354" name="Google Shape;354;p20"/>
          <p:cNvCxnSpPr/>
          <p:nvPr/>
        </p:nvCxnSpPr>
        <p:spPr>
          <a:xfrm>
            <a:off x="9464040" y="3200400"/>
            <a:ext cx="210312" cy="0"/>
          </a:xfrm>
          <a:prstGeom prst="straightConnector1">
            <a:avLst/>
          </a:prstGeom>
          <a:noFill/>
          <a:ln cap="flat" cmpd="sng" w="19050">
            <a:solidFill>
              <a:srgbClr val="E0B02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55" name="Google Shape;355;p20"/>
          <p:cNvSpPr/>
          <p:nvPr/>
        </p:nvSpPr>
        <p:spPr>
          <a:xfrm>
            <a:off x="9729216" y="2011680"/>
            <a:ext cx="1993392" cy="3246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AE0E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20"/>
          <p:cNvSpPr/>
          <p:nvPr/>
        </p:nvSpPr>
        <p:spPr>
          <a:xfrm>
            <a:off x="10415016" y="2267712"/>
            <a:ext cx="621792" cy="621792"/>
          </a:xfrm>
          <a:prstGeom prst="roundRect">
            <a:avLst>
              <a:gd fmla="val 16667" name="adj"/>
            </a:avLst>
          </a:prstGeom>
          <a:solidFill>
            <a:srgbClr val="18275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0"/>
          <p:cNvSpPr txBox="1"/>
          <p:nvPr/>
        </p:nvSpPr>
        <p:spPr>
          <a:xfrm>
            <a:off x="10415016" y="2267712"/>
            <a:ext cx="62179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/>
          </a:p>
        </p:txBody>
      </p:sp>
      <p:sp>
        <p:nvSpPr>
          <p:cNvPr id="358" name="Google Shape;358;p20"/>
          <p:cNvSpPr txBox="1"/>
          <p:nvPr/>
        </p:nvSpPr>
        <p:spPr>
          <a:xfrm>
            <a:off x="9912096" y="3154680"/>
            <a:ext cx="1627632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232A3A"/>
                </a:solidFill>
                <a:latin typeface="Arial"/>
                <a:ea typeface="Arial"/>
                <a:cs typeface="Arial"/>
                <a:sym typeface="Arial"/>
              </a:rPr>
              <a:t>Document</a:t>
            </a:r>
            <a:endParaRPr/>
          </a:p>
        </p:txBody>
      </p:sp>
      <p:sp>
        <p:nvSpPr>
          <p:cNvPr id="359" name="Google Shape;359;p20"/>
          <p:cNvSpPr txBox="1"/>
          <p:nvPr/>
        </p:nvSpPr>
        <p:spPr>
          <a:xfrm>
            <a:off x="9912096" y="3675887"/>
            <a:ext cx="1627632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19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Record learning outcomes and preserve certificates as evidence of completion.</a:t>
            </a:r>
            <a:endParaRPr/>
          </a:p>
        </p:txBody>
      </p:sp>
      <p:sp>
        <p:nvSpPr>
          <p:cNvPr id="360" name="Google Shape;360;p20"/>
          <p:cNvSpPr/>
          <p:nvPr/>
        </p:nvSpPr>
        <p:spPr>
          <a:xfrm>
            <a:off x="2331720" y="5596128"/>
            <a:ext cx="7543800" cy="310896"/>
          </a:xfrm>
          <a:prstGeom prst="roundRect">
            <a:avLst>
              <a:gd fmla="val 16667" name="adj"/>
            </a:avLst>
          </a:prstGeom>
          <a:solidFill>
            <a:srgbClr val="DCE4F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20"/>
          <p:cNvSpPr txBox="1"/>
          <p:nvPr/>
        </p:nvSpPr>
        <p:spPr>
          <a:xfrm>
            <a:off x="2350008" y="5605272"/>
            <a:ext cx="7507224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18275B"/>
                </a:solidFill>
                <a:latin typeface="Arial"/>
                <a:ea typeface="Arial"/>
                <a:cs typeface="Arial"/>
                <a:sym typeface="Arial"/>
              </a:rPr>
              <a:t>COURSE-BY-COURSE  •  LEARN  →  PRACTICE  →  ASSESS  →  REVIEW  →  DOCUMENT</a:t>
            </a:r>
            <a:endParaRPr/>
          </a:p>
        </p:txBody>
      </p:sp>
      <p:sp>
        <p:nvSpPr>
          <p:cNvPr id="362" name="Google Shape;362;p20"/>
          <p:cNvSpPr txBox="1"/>
          <p:nvPr/>
        </p:nvSpPr>
        <p:spPr>
          <a:xfrm>
            <a:off x="457200" y="6473952"/>
            <a:ext cx="6858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Cisco Networking Academy Training  •  Ankush Raj</a:t>
            </a:r>
            <a:endParaRPr/>
          </a:p>
        </p:txBody>
      </p:sp>
      <p:sp>
        <p:nvSpPr>
          <p:cNvPr id="363" name="Google Shape;363;p20"/>
          <p:cNvSpPr txBox="1"/>
          <p:nvPr/>
        </p:nvSpPr>
        <p:spPr>
          <a:xfrm>
            <a:off x="11247120" y="6428232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2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EFF3F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21"/>
          <p:cNvSpPr txBox="1"/>
          <p:nvPr/>
        </p:nvSpPr>
        <p:spPr>
          <a:xfrm>
            <a:off x="594360" y="347472"/>
            <a:ext cx="4114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E0B02C"/>
                </a:solidFill>
                <a:latin typeface="Arial"/>
                <a:ea typeface="Arial"/>
                <a:cs typeface="Arial"/>
                <a:sym typeface="Arial"/>
              </a:rPr>
              <a:t>EXPECTED OUTCOMES</a:t>
            </a:r>
            <a:endParaRPr/>
          </a:p>
        </p:txBody>
      </p:sp>
      <p:sp>
        <p:nvSpPr>
          <p:cNvPr id="370" name="Google Shape;370;p21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8275B"/>
                </a:solidFill>
                <a:latin typeface="Georgia"/>
                <a:ea typeface="Georgia"/>
                <a:cs typeface="Georgia"/>
                <a:sym typeface="Georgia"/>
              </a:rPr>
              <a:t>Skills &amp; Capabilities Gained</a:t>
            </a:r>
            <a:endParaRPr/>
          </a:p>
        </p:txBody>
      </p:sp>
      <p:sp>
        <p:nvSpPr>
          <p:cNvPr id="371" name="Google Shape;371;p21"/>
          <p:cNvSpPr txBox="1"/>
          <p:nvPr/>
        </p:nvSpPr>
        <p:spPr>
          <a:xfrm>
            <a:off x="621792" y="1280160"/>
            <a:ext cx="10789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What I can take forward from the training</a:t>
            </a:r>
            <a:endParaRPr/>
          </a:p>
        </p:txBody>
      </p:sp>
      <p:sp>
        <p:nvSpPr>
          <p:cNvPr id="372" name="Google Shape;372;p21"/>
          <p:cNvSpPr/>
          <p:nvPr/>
        </p:nvSpPr>
        <p:spPr>
          <a:xfrm>
            <a:off x="621792" y="1847088"/>
            <a:ext cx="2880360" cy="4005072"/>
          </a:xfrm>
          <a:prstGeom prst="roundRect">
            <a:avLst>
              <a:gd fmla="val 16667" name="adj"/>
            </a:avLst>
          </a:prstGeom>
          <a:solidFill>
            <a:srgbClr val="18275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21"/>
          <p:cNvSpPr txBox="1"/>
          <p:nvPr/>
        </p:nvSpPr>
        <p:spPr>
          <a:xfrm>
            <a:off x="896112" y="2423160"/>
            <a:ext cx="21488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THE BIG</a:t>
            </a:r>
            <a:br>
              <a:rPr b="1" i="0" lang="en-US" sz="23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b="1" i="0" lang="en-US" sz="23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TAKEAWAY</a:t>
            </a:r>
            <a:endParaRPr/>
          </a:p>
        </p:txBody>
      </p:sp>
      <p:sp>
        <p:nvSpPr>
          <p:cNvPr id="374" name="Google Shape;374;p21"/>
          <p:cNvSpPr txBox="1"/>
          <p:nvPr/>
        </p:nvSpPr>
        <p:spPr>
          <a:xfrm>
            <a:off x="896112" y="3566160"/>
            <a:ext cx="21031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D7DEF2"/>
                </a:solidFill>
                <a:latin typeface="Arial"/>
                <a:ea typeface="Arial"/>
                <a:cs typeface="Arial"/>
                <a:sym typeface="Arial"/>
              </a:rPr>
              <a:t>Connect the network.</a:t>
            </a:r>
            <a:br>
              <a:rPr b="0" i="0" lang="en-US" sz="1300" u="none" cap="none" strike="noStrike">
                <a:solidFill>
                  <a:srgbClr val="D7DEF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300" u="none" cap="none" strike="noStrike">
                <a:solidFill>
                  <a:srgbClr val="D7DEF2"/>
                </a:solidFill>
                <a:latin typeface="Arial"/>
                <a:ea typeface="Arial"/>
                <a:cs typeface="Arial"/>
                <a:sym typeface="Arial"/>
              </a:rPr>
              <a:t>Understand the risk.</a:t>
            </a:r>
            <a:br>
              <a:rPr b="0" i="0" lang="en-US" sz="1300" u="none" cap="none" strike="noStrike">
                <a:solidFill>
                  <a:srgbClr val="D7DEF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300" u="none" cap="none" strike="noStrike">
                <a:solidFill>
                  <a:srgbClr val="D7DEF2"/>
                </a:solidFill>
                <a:latin typeface="Arial"/>
                <a:ea typeface="Arial"/>
                <a:cs typeface="Arial"/>
                <a:sym typeface="Arial"/>
              </a:rPr>
              <a:t>See the connected future.</a:t>
            </a:r>
            <a:endParaRPr/>
          </a:p>
        </p:txBody>
      </p:sp>
      <p:sp>
        <p:nvSpPr>
          <p:cNvPr id="375" name="Google Shape;375;p21"/>
          <p:cNvSpPr/>
          <p:nvPr/>
        </p:nvSpPr>
        <p:spPr>
          <a:xfrm>
            <a:off x="932688" y="5212080"/>
            <a:ext cx="1508760" cy="310896"/>
          </a:xfrm>
          <a:prstGeom prst="roundRect">
            <a:avLst>
              <a:gd fmla="val 16667" name="adj"/>
            </a:avLst>
          </a:prstGeom>
          <a:solidFill>
            <a:srgbClr val="1F347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21"/>
          <p:cNvSpPr txBox="1"/>
          <p:nvPr/>
        </p:nvSpPr>
        <p:spPr>
          <a:xfrm>
            <a:off x="950976" y="5221224"/>
            <a:ext cx="1472184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FOUNDATION BUILT</a:t>
            </a:r>
            <a:endParaRPr/>
          </a:p>
        </p:txBody>
      </p:sp>
      <p:sp>
        <p:nvSpPr>
          <p:cNvPr id="377" name="Google Shape;377;p21"/>
          <p:cNvSpPr/>
          <p:nvPr/>
        </p:nvSpPr>
        <p:spPr>
          <a:xfrm>
            <a:off x="3822191" y="1847088"/>
            <a:ext cx="3401568" cy="79552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AE0E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21"/>
          <p:cNvSpPr/>
          <p:nvPr/>
        </p:nvSpPr>
        <p:spPr>
          <a:xfrm>
            <a:off x="3986783" y="2002536"/>
            <a:ext cx="411480" cy="411480"/>
          </a:xfrm>
          <a:prstGeom prst="roundRect">
            <a:avLst>
              <a:gd fmla="val 16667" name="adj"/>
            </a:avLst>
          </a:prstGeom>
          <a:solidFill>
            <a:srgbClr val="18275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21"/>
          <p:cNvSpPr txBox="1"/>
          <p:nvPr/>
        </p:nvSpPr>
        <p:spPr>
          <a:xfrm>
            <a:off x="3986783" y="2002536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380" name="Google Shape;380;p21"/>
          <p:cNvSpPr txBox="1"/>
          <p:nvPr/>
        </p:nvSpPr>
        <p:spPr>
          <a:xfrm>
            <a:off x="4535424" y="1975104"/>
            <a:ext cx="2423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19" u="none" cap="none" strike="noStrike">
                <a:solidFill>
                  <a:srgbClr val="232A3A"/>
                </a:solidFill>
                <a:latin typeface="Arial"/>
                <a:ea typeface="Arial"/>
                <a:cs typeface="Arial"/>
                <a:sym typeface="Arial"/>
              </a:rPr>
              <a:t>Outcome 1</a:t>
            </a:r>
            <a:endParaRPr/>
          </a:p>
        </p:txBody>
      </p:sp>
      <p:sp>
        <p:nvSpPr>
          <p:cNvPr id="381" name="Google Shape;381;p21"/>
          <p:cNvSpPr txBox="1"/>
          <p:nvPr/>
        </p:nvSpPr>
        <p:spPr>
          <a:xfrm>
            <a:off x="4535424" y="2286000"/>
            <a:ext cx="248716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18275" spcFirstLastPara="1" rIns="1827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Explain foundational networking concepts and terminology.</a:t>
            </a:r>
            <a:endParaRPr/>
          </a:p>
        </p:txBody>
      </p:sp>
      <p:sp>
        <p:nvSpPr>
          <p:cNvPr id="382" name="Google Shape;382;p21"/>
          <p:cNvSpPr/>
          <p:nvPr/>
        </p:nvSpPr>
        <p:spPr>
          <a:xfrm>
            <a:off x="3822191" y="2816352"/>
            <a:ext cx="3401568" cy="79552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AE0E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21"/>
          <p:cNvSpPr/>
          <p:nvPr/>
        </p:nvSpPr>
        <p:spPr>
          <a:xfrm>
            <a:off x="3986783" y="2971800"/>
            <a:ext cx="411480" cy="411480"/>
          </a:xfrm>
          <a:prstGeom prst="roundRect">
            <a:avLst>
              <a:gd fmla="val 16667" name="adj"/>
            </a:avLst>
          </a:prstGeom>
          <a:solidFill>
            <a:srgbClr val="18275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1"/>
          <p:cNvSpPr txBox="1"/>
          <p:nvPr/>
        </p:nvSpPr>
        <p:spPr>
          <a:xfrm>
            <a:off x="3986783" y="297180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385" name="Google Shape;385;p21"/>
          <p:cNvSpPr txBox="1"/>
          <p:nvPr/>
        </p:nvSpPr>
        <p:spPr>
          <a:xfrm>
            <a:off x="4535424" y="2944368"/>
            <a:ext cx="2423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19" u="none" cap="none" strike="noStrike">
                <a:solidFill>
                  <a:srgbClr val="232A3A"/>
                </a:solidFill>
                <a:latin typeface="Arial"/>
                <a:ea typeface="Arial"/>
                <a:cs typeface="Arial"/>
                <a:sym typeface="Arial"/>
              </a:rPr>
              <a:t>Outcome 2</a:t>
            </a:r>
            <a:endParaRPr/>
          </a:p>
        </p:txBody>
      </p:sp>
      <p:sp>
        <p:nvSpPr>
          <p:cNvPr id="386" name="Google Shape;386;p21"/>
          <p:cNvSpPr txBox="1"/>
          <p:nvPr/>
        </p:nvSpPr>
        <p:spPr>
          <a:xfrm>
            <a:off x="4535424" y="3255264"/>
            <a:ext cx="248716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18275" spcFirstLastPara="1" rIns="1827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Recognize the role of devices, media, protocols and IP addressing.</a:t>
            </a:r>
            <a:endParaRPr/>
          </a:p>
        </p:txBody>
      </p:sp>
      <p:sp>
        <p:nvSpPr>
          <p:cNvPr id="387" name="Google Shape;387;p21"/>
          <p:cNvSpPr/>
          <p:nvPr/>
        </p:nvSpPr>
        <p:spPr>
          <a:xfrm>
            <a:off x="3822191" y="3785616"/>
            <a:ext cx="3401568" cy="79552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AE0E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21"/>
          <p:cNvSpPr/>
          <p:nvPr/>
        </p:nvSpPr>
        <p:spPr>
          <a:xfrm>
            <a:off x="3986783" y="3941064"/>
            <a:ext cx="411480" cy="411480"/>
          </a:xfrm>
          <a:prstGeom prst="roundRect">
            <a:avLst>
              <a:gd fmla="val 16667" name="adj"/>
            </a:avLst>
          </a:prstGeom>
          <a:solidFill>
            <a:srgbClr val="18275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21"/>
          <p:cNvSpPr txBox="1"/>
          <p:nvPr/>
        </p:nvSpPr>
        <p:spPr>
          <a:xfrm>
            <a:off x="3986783" y="3941064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390" name="Google Shape;390;p21"/>
          <p:cNvSpPr txBox="1"/>
          <p:nvPr/>
        </p:nvSpPr>
        <p:spPr>
          <a:xfrm>
            <a:off x="4535424" y="3913632"/>
            <a:ext cx="2423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19" u="none" cap="none" strike="noStrike">
                <a:solidFill>
                  <a:srgbClr val="232A3A"/>
                </a:solidFill>
                <a:latin typeface="Arial"/>
                <a:ea typeface="Arial"/>
                <a:cs typeface="Arial"/>
                <a:sym typeface="Arial"/>
              </a:rPr>
              <a:t>Outcome 3</a:t>
            </a:r>
            <a:endParaRPr/>
          </a:p>
        </p:txBody>
      </p:sp>
      <p:sp>
        <p:nvSpPr>
          <p:cNvPr id="391" name="Google Shape;391;p21"/>
          <p:cNvSpPr txBox="1"/>
          <p:nvPr/>
        </p:nvSpPr>
        <p:spPr>
          <a:xfrm>
            <a:off x="4535424" y="4224528"/>
            <a:ext cx="248716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18275" spcFirstLastPara="1" rIns="1827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Identify common cybersecurity concerns and safer digital practices.</a:t>
            </a:r>
            <a:endParaRPr/>
          </a:p>
        </p:txBody>
      </p:sp>
      <p:sp>
        <p:nvSpPr>
          <p:cNvPr id="392" name="Google Shape;392;p21"/>
          <p:cNvSpPr/>
          <p:nvPr/>
        </p:nvSpPr>
        <p:spPr>
          <a:xfrm>
            <a:off x="3822191" y="4754880"/>
            <a:ext cx="3401568" cy="79552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AE0E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21"/>
          <p:cNvSpPr/>
          <p:nvPr/>
        </p:nvSpPr>
        <p:spPr>
          <a:xfrm>
            <a:off x="3986783" y="4910328"/>
            <a:ext cx="411480" cy="411480"/>
          </a:xfrm>
          <a:prstGeom prst="roundRect">
            <a:avLst>
              <a:gd fmla="val 16667" name="adj"/>
            </a:avLst>
          </a:prstGeom>
          <a:solidFill>
            <a:srgbClr val="18275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21"/>
          <p:cNvSpPr txBox="1"/>
          <p:nvPr/>
        </p:nvSpPr>
        <p:spPr>
          <a:xfrm>
            <a:off x="3986783" y="4910328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395" name="Google Shape;395;p21"/>
          <p:cNvSpPr txBox="1"/>
          <p:nvPr/>
        </p:nvSpPr>
        <p:spPr>
          <a:xfrm>
            <a:off x="4535424" y="4882896"/>
            <a:ext cx="2423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19" u="none" cap="none" strike="noStrike">
                <a:solidFill>
                  <a:srgbClr val="232A3A"/>
                </a:solidFill>
                <a:latin typeface="Arial"/>
                <a:ea typeface="Arial"/>
                <a:cs typeface="Arial"/>
                <a:sym typeface="Arial"/>
              </a:rPr>
              <a:t>Outcome 4</a:t>
            </a:r>
            <a:endParaRPr/>
          </a:p>
        </p:txBody>
      </p:sp>
      <p:sp>
        <p:nvSpPr>
          <p:cNvPr id="396" name="Google Shape;396;p21"/>
          <p:cNvSpPr txBox="1"/>
          <p:nvPr/>
        </p:nvSpPr>
        <p:spPr>
          <a:xfrm>
            <a:off x="4535424" y="5193792"/>
            <a:ext cx="248716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18275" spcFirstLastPara="1" rIns="1827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Explain why personal and organizational data must be protected.</a:t>
            </a:r>
            <a:endParaRPr/>
          </a:p>
        </p:txBody>
      </p:sp>
      <p:sp>
        <p:nvSpPr>
          <p:cNvPr id="397" name="Google Shape;397;p21"/>
          <p:cNvSpPr/>
          <p:nvPr/>
        </p:nvSpPr>
        <p:spPr>
          <a:xfrm>
            <a:off x="7552944" y="1847088"/>
            <a:ext cx="3401568" cy="79552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AE0E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21"/>
          <p:cNvSpPr/>
          <p:nvPr/>
        </p:nvSpPr>
        <p:spPr>
          <a:xfrm>
            <a:off x="7717536" y="2002536"/>
            <a:ext cx="411480" cy="411480"/>
          </a:xfrm>
          <a:prstGeom prst="roundRect">
            <a:avLst>
              <a:gd fmla="val 16667" name="adj"/>
            </a:avLst>
          </a:prstGeom>
          <a:solidFill>
            <a:srgbClr val="18275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21"/>
          <p:cNvSpPr txBox="1"/>
          <p:nvPr/>
        </p:nvSpPr>
        <p:spPr>
          <a:xfrm>
            <a:off x="7717536" y="2002536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400" name="Google Shape;400;p21"/>
          <p:cNvSpPr txBox="1"/>
          <p:nvPr/>
        </p:nvSpPr>
        <p:spPr>
          <a:xfrm>
            <a:off x="8266175" y="1975104"/>
            <a:ext cx="2423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19" u="none" cap="none" strike="noStrike">
                <a:solidFill>
                  <a:srgbClr val="232A3A"/>
                </a:solidFill>
                <a:latin typeface="Arial"/>
                <a:ea typeface="Arial"/>
                <a:cs typeface="Arial"/>
                <a:sym typeface="Arial"/>
              </a:rPr>
              <a:t>Outcome 5</a:t>
            </a:r>
            <a:endParaRPr/>
          </a:p>
        </p:txBody>
      </p:sp>
      <p:sp>
        <p:nvSpPr>
          <p:cNvPr id="401" name="Google Shape;401;p21"/>
          <p:cNvSpPr txBox="1"/>
          <p:nvPr/>
        </p:nvSpPr>
        <p:spPr>
          <a:xfrm>
            <a:off x="8266175" y="2286000"/>
            <a:ext cx="248716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18275" spcFirstLastPara="1" rIns="1827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Describe the basic purpose of IoT and connected devices.</a:t>
            </a:r>
            <a:endParaRPr/>
          </a:p>
        </p:txBody>
      </p:sp>
      <p:sp>
        <p:nvSpPr>
          <p:cNvPr id="402" name="Google Shape;402;p21"/>
          <p:cNvSpPr/>
          <p:nvPr/>
        </p:nvSpPr>
        <p:spPr>
          <a:xfrm>
            <a:off x="7552944" y="2816352"/>
            <a:ext cx="3401568" cy="79552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AE0E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21"/>
          <p:cNvSpPr/>
          <p:nvPr/>
        </p:nvSpPr>
        <p:spPr>
          <a:xfrm>
            <a:off x="7717536" y="2971800"/>
            <a:ext cx="411480" cy="411480"/>
          </a:xfrm>
          <a:prstGeom prst="roundRect">
            <a:avLst>
              <a:gd fmla="val 16667" name="adj"/>
            </a:avLst>
          </a:prstGeom>
          <a:solidFill>
            <a:srgbClr val="18275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21"/>
          <p:cNvSpPr txBox="1"/>
          <p:nvPr/>
        </p:nvSpPr>
        <p:spPr>
          <a:xfrm>
            <a:off x="7717536" y="297180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  <p:sp>
        <p:nvSpPr>
          <p:cNvPr id="405" name="Google Shape;405;p21"/>
          <p:cNvSpPr txBox="1"/>
          <p:nvPr/>
        </p:nvSpPr>
        <p:spPr>
          <a:xfrm>
            <a:off x="8266175" y="2944368"/>
            <a:ext cx="2423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19" u="none" cap="none" strike="noStrike">
                <a:solidFill>
                  <a:srgbClr val="232A3A"/>
                </a:solidFill>
                <a:latin typeface="Arial"/>
                <a:ea typeface="Arial"/>
                <a:cs typeface="Arial"/>
                <a:sym typeface="Arial"/>
              </a:rPr>
              <a:t>Outcome 6</a:t>
            </a:r>
            <a:endParaRPr/>
          </a:p>
        </p:txBody>
      </p:sp>
      <p:sp>
        <p:nvSpPr>
          <p:cNvPr id="406" name="Google Shape;406;p21"/>
          <p:cNvSpPr txBox="1"/>
          <p:nvPr/>
        </p:nvSpPr>
        <p:spPr>
          <a:xfrm>
            <a:off x="8266175" y="3255264"/>
            <a:ext cx="248716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18275" spcFirstLastPara="1" rIns="1827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Relate IoT to data analytics, AI and digital transformation.</a:t>
            </a:r>
            <a:endParaRPr/>
          </a:p>
        </p:txBody>
      </p:sp>
      <p:sp>
        <p:nvSpPr>
          <p:cNvPr id="407" name="Google Shape;407;p21"/>
          <p:cNvSpPr/>
          <p:nvPr/>
        </p:nvSpPr>
        <p:spPr>
          <a:xfrm>
            <a:off x="7552944" y="3785616"/>
            <a:ext cx="3401568" cy="79552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AE0E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21"/>
          <p:cNvSpPr/>
          <p:nvPr/>
        </p:nvSpPr>
        <p:spPr>
          <a:xfrm>
            <a:off x="7717536" y="3941064"/>
            <a:ext cx="411480" cy="411480"/>
          </a:xfrm>
          <a:prstGeom prst="roundRect">
            <a:avLst>
              <a:gd fmla="val 16667" name="adj"/>
            </a:avLst>
          </a:prstGeom>
          <a:solidFill>
            <a:srgbClr val="18275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21"/>
          <p:cNvSpPr txBox="1"/>
          <p:nvPr/>
        </p:nvSpPr>
        <p:spPr>
          <a:xfrm>
            <a:off x="7717536" y="3941064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/>
          </a:p>
        </p:txBody>
      </p:sp>
      <p:sp>
        <p:nvSpPr>
          <p:cNvPr id="410" name="Google Shape;410;p21"/>
          <p:cNvSpPr txBox="1"/>
          <p:nvPr/>
        </p:nvSpPr>
        <p:spPr>
          <a:xfrm>
            <a:off x="8266175" y="3913632"/>
            <a:ext cx="2423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19" u="none" cap="none" strike="noStrike">
                <a:solidFill>
                  <a:srgbClr val="232A3A"/>
                </a:solidFill>
                <a:latin typeface="Arial"/>
                <a:ea typeface="Arial"/>
                <a:cs typeface="Arial"/>
                <a:sym typeface="Arial"/>
              </a:rPr>
              <a:t>Outcome 7</a:t>
            </a:r>
            <a:endParaRPr/>
          </a:p>
        </p:txBody>
      </p:sp>
      <p:sp>
        <p:nvSpPr>
          <p:cNvPr id="411" name="Google Shape;411;p21"/>
          <p:cNvSpPr txBox="1"/>
          <p:nvPr/>
        </p:nvSpPr>
        <p:spPr>
          <a:xfrm>
            <a:off x="8266175" y="4224528"/>
            <a:ext cx="248716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18275" spcFirstLastPara="1" rIns="1827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Connect networking and cybersecurity ideas to connected environments.</a:t>
            </a:r>
            <a:endParaRPr/>
          </a:p>
        </p:txBody>
      </p:sp>
      <p:sp>
        <p:nvSpPr>
          <p:cNvPr id="412" name="Google Shape;412;p21"/>
          <p:cNvSpPr/>
          <p:nvPr/>
        </p:nvSpPr>
        <p:spPr>
          <a:xfrm>
            <a:off x="7552944" y="4754880"/>
            <a:ext cx="3401568" cy="79552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AE0E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21"/>
          <p:cNvSpPr/>
          <p:nvPr/>
        </p:nvSpPr>
        <p:spPr>
          <a:xfrm>
            <a:off x="7717536" y="4910328"/>
            <a:ext cx="411480" cy="411480"/>
          </a:xfrm>
          <a:prstGeom prst="roundRect">
            <a:avLst>
              <a:gd fmla="val 16667" name="adj"/>
            </a:avLst>
          </a:prstGeom>
          <a:solidFill>
            <a:srgbClr val="18275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21"/>
          <p:cNvSpPr txBox="1"/>
          <p:nvPr/>
        </p:nvSpPr>
        <p:spPr>
          <a:xfrm>
            <a:off x="7717536" y="4910328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/>
          </a:p>
        </p:txBody>
      </p:sp>
      <p:sp>
        <p:nvSpPr>
          <p:cNvPr id="415" name="Google Shape;415;p21"/>
          <p:cNvSpPr txBox="1"/>
          <p:nvPr/>
        </p:nvSpPr>
        <p:spPr>
          <a:xfrm>
            <a:off x="8266175" y="4882896"/>
            <a:ext cx="2423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19" u="none" cap="none" strike="noStrike">
                <a:solidFill>
                  <a:srgbClr val="232A3A"/>
                </a:solidFill>
                <a:latin typeface="Arial"/>
                <a:ea typeface="Arial"/>
                <a:cs typeface="Arial"/>
                <a:sym typeface="Arial"/>
              </a:rPr>
              <a:t>Outcome 8</a:t>
            </a:r>
            <a:endParaRPr/>
          </a:p>
        </p:txBody>
      </p:sp>
      <p:sp>
        <p:nvSpPr>
          <p:cNvPr id="416" name="Google Shape;416;p21"/>
          <p:cNvSpPr txBox="1"/>
          <p:nvPr/>
        </p:nvSpPr>
        <p:spPr>
          <a:xfrm>
            <a:off x="8266175" y="5193792"/>
            <a:ext cx="248716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25" lIns="18275" spcFirstLastPara="1" rIns="1827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Identify useful next steps for deeper technical learning.</a:t>
            </a:r>
            <a:endParaRPr/>
          </a:p>
        </p:txBody>
      </p:sp>
      <p:sp>
        <p:nvSpPr>
          <p:cNvPr id="417" name="Google Shape;417;p21"/>
          <p:cNvSpPr txBox="1"/>
          <p:nvPr/>
        </p:nvSpPr>
        <p:spPr>
          <a:xfrm>
            <a:off x="457200" y="6473952"/>
            <a:ext cx="6858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Cisco Networking Academy Training  •  Ankush Raj</a:t>
            </a:r>
            <a:endParaRPr/>
          </a:p>
        </p:txBody>
      </p:sp>
      <p:sp>
        <p:nvSpPr>
          <p:cNvPr id="418" name="Google Shape;418;p21"/>
          <p:cNvSpPr txBox="1"/>
          <p:nvPr/>
        </p:nvSpPr>
        <p:spPr>
          <a:xfrm>
            <a:off x="11247120" y="6428232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09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22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EFF3F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22"/>
          <p:cNvSpPr txBox="1"/>
          <p:nvPr/>
        </p:nvSpPr>
        <p:spPr>
          <a:xfrm>
            <a:off x="594360" y="347472"/>
            <a:ext cx="4114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E0B02C"/>
                </a:solidFill>
                <a:latin typeface="Arial"/>
                <a:ea typeface="Arial"/>
                <a:cs typeface="Arial"/>
                <a:sym typeface="Arial"/>
              </a:rPr>
              <a:t>CERTIFICATION</a:t>
            </a:r>
            <a:endParaRPr/>
          </a:p>
        </p:txBody>
      </p:sp>
      <p:sp>
        <p:nvSpPr>
          <p:cNvPr id="425" name="Google Shape;425;p2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8275B"/>
                </a:solidFill>
                <a:latin typeface="Georgia"/>
                <a:ea typeface="Georgia"/>
                <a:cs typeface="Georgia"/>
                <a:sym typeface="Georgia"/>
              </a:rPr>
              <a:t>Successfully Completed</a:t>
            </a:r>
            <a:endParaRPr/>
          </a:p>
        </p:txBody>
      </p:sp>
      <p:sp>
        <p:nvSpPr>
          <p:cNvPr id="426" name="Google Shape;426;p22"/>
          <p:cNvSpPr txBox="1"/>
          <p:nvPr/>
        </p:nvSpPr>
        <p:spPr>
          <a:xfrm>
            <a:off x="621792" y="1280160"/>
            <a:ext cx="10789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Three Cisco Networking Academy course-completion certificates</a:t>
            </a:r>
            <a:endParaRPr/>
          </a:p>
        </p:txBody>
      </p:sp>
      <p:sp>
        <p:nvSpPr>
          <p:cNvPr id="427" name="Google Shape;427;p22"/>
          <p:cNvSpPr/>
          <p:nvPr/>
        </p:nvSpPr>
        <p:spPr>
          <a:xfrm>
            <a:off x="621792" y="1783080"/>
            <a:ext cx="3246120" cy="42976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AE0E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ertificate_1.png" id="428" name="Google Shape;42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6112" y="1975104"/>
            <a:ext cx="2697480" cy="2011680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p22"/>
          <p:cNvSpPr txBox="1"/>
          <p:nvPr/>
        </p:nvSpPr>
        <p:spPr>
          <a:xfrm>
            <a:off x="804672" y="4160520"/>
            <a:ext cx="2880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32A3A"/>
                </a:solidFill>
                <a:latin typeface="Arial"/>
                <a:ea typeface="Arial"/>
                <a:cs typeface="Arial"/>
                <a:sym typeface="Arial"/>
              </a:rPr>
              <a:t>Networking Basics</a:t>
            </a:r>
            <a:endParaRPr/>
          </a:p>
        </p:txBody>
      </p:sp>
      <p:sp>
        <p:nvSpPr>
          <p:cNvPr id="430" name="Google Shape;430;p22"/>
          <p:cNvSpPr txBox="1"/>
          <p:nvPr/>
        </p:nvSpPr>
        <p:spPr>
          <a:xfrm>
            <a:off x="804672" y="4736592"/>
            <a:ext cx="28803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9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Completed: 19 June 2026</a:t>
            </a:r>
            <a:endParaRPr/>
          </a:p>
        </p:txBody>
      </p:sp>
      <p:sp>
        <p:nvSpPr>
          <p:cNvPr id="431" name="Google Shape;431;p22"/>
          <p:cNvSpPr txBox="1"/>
          <p:nvPr/>
        </p:nvSpPr>
        <p:spPr>
          <a:xfrm>
            <a:off x="804672" y="5074920"/>
            <a:ext cx="28803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6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Certificate ID</a:t>
            </a:r>
            <a:br>
              <a:rPr b="0" i="0" lang="en-US" sz="66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66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f8f3b46f-3a06-4add-a144-2fe35ded21c9</a:t>
            </a:r>
            <a:endParaRPr/>
          </a:p>
        </p:txBody>
      </p:sp>
      <p:sp>
        <p:nvSpPr>
          <p:cNvPr id="432" name="Google Shape;432;p22"/>
          <p:cNvSpPr/>
          <p:nvPr/>
        </p:nvSpPr>
        <p:spPr>
          <a:xfrm>
            <a:off x="4133087" y="1783080"/>
            <a:ext cx="3246120" cy="42976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AE0E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ertificate_2.png" id="433" name="Google Shape;433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07407" y="1975104"/>
            <a:ext cx="2697480" cy="2011680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22"/>
          <p:cNvSpPr txBox="1"/>
          <p:nvPr/>
        </p:nvSpPr>
        <p:spPr>
          <a:xfrm>
            <a:off x="4315968" y="4160520"/>
            <a:ext cx="2880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32A3A"/>
                </a:solidFill>
                <a:latin typeface="Arial"/>
                <a:ea typeface="Arial"/>
                <a:cs typeface="Arial"/>
                <a:sym typeface="Arial"/>
              </a:rPr>
              <a:t>Introduction to Cybersecurity</a:t>
            </a:r>
            <a:endParaRPr/>
          </a:p>
        </p:txBody>
      </p:sp>
      <p:sp>
        <p:nvSpPr>
          <p:cNvPr id="435" name="Google Shape;435;p22"/>
          <p:cNvSpPr txBox="1"/>
          <p:nvPr/>
        </p:nvSpPr>
        <p:spPr>
          <a:xfrm>
            <a:off x="4315968" y="4736592"/>
            <a:ext cx="28803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9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Completed: 18 June 2026</a:t>
            </a:r>
            <a:endParaRPr/>
          </a:p>
        </p:txBody>
      </p:sp>
      <p:sp>
        <p:nvSpPr>
          <p:cNvPr id="436" name="Google Shape;436;p22"/>
          <p:cNvSpPr txBox="1"/>
          <p:nvPr/>
        </p:nvSpPr>
        <p:spPr>
          <a:xfrm>
            <a:off x="4315968" y="5074920"/>
            <a:ext cx="28803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6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Certificate ID</a:t>
            </a:r>
            <a:br>
              <a:rPr b="0" i="0" lang="en-US" sz="66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66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ba50ba94-b82e-46ac-a506-fe2596b127fb</a:t>
            </a:r>
            <a:endParaRPr/>
          </a:p>
        </p:txBody>
      </p:sp>
      <p:sp>
        <p:nvSpPr>
          <p:cNvPr id="437" name="Google Shape;437;p22"/>
          <p:cNvSpPr/>
          <p:nvPr/>
        </p:nvSpPr>
        <p:spPr>
          <a:xfrm>
            <a:off x="7644383" y="1783080"/>
            <a:ext cx="3246120" cy="42976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AE0E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ertificate_3.png" id="438" name="Google Shape;438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18704" y="1975104"/>
            <a:ext cx="2697480" cy="201168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22"/>
          <p:cNvSpPr txBox="1"/>
          <p:nvPr/>
        </p:nvSpPr>
        <p:spPr>
          <a:xfrm>
            <a:off x="7827263" y="4160520"/>
            <a:ext cx="2880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32A3A"/>
                </a:solidFill>
                <a:latin typeface="Arial"/>
                <a:ea typeface="Arial"/>
                <a:cs typeface="Arial"/>
                <a:sym typeface="Arial"/>
              </a:rPr>
              <a:t>Introduction to IoT &amp; Digital Transformation</a:t>
            </a:r>
            <a:endParaRPr/>
          </a:p>
        </p:txBody>
      </p:sp>
      <p:sp>
        <p:nvSpPr>
          <p:cNvPr id="440" name="Google Shape;440;p22"/>
          <p:cNvSpPr txBox="1"/>
          <p:nvPr/>
        </p:nvSpPr>
        <p:spPr>
          <a:xfrm>
            <a:off x="7827263" y="4736592"/>
            <a:ext cx="28803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9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Completed: 18 June 2026</a:t>
            </a:r>
            <a:endParaRPr/>
          </a:p>
        </p:txBody>
      </p:sp>
      <p:sp>
        <p:nvSpPr>
          <p:cNvPr id="441" name="Google Shape;441;p22"/>
          <p:cNvSpPr txBox="1"/>
          <p:nvPr/>
        </p:nvSpPr>
        <p:spPr>
          <a:xfrm>
            <a:off x="7827263" y="5074920"/>
            <a:ext cx="28803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6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Certificate ID</a:t>
            </a:r>
            <a:br>
              <a:rPr b="0" i="0" lang="en-US" sz="66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66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c62c6489-bdfc-4ec1-93e5-333ff65beca2</a:t>
            </a:r>
            <a:endParaRPr/>
          </a:p>
        </p:txBody>
      </p:sp>
      <p:sp>
        <p:nvSpPr>
          <p:cNvPr id="442" name="Google Shape;442;p22"/>
          <p:cNvSpPr/>
          <p:nvPr/>
        </p:nvSpPr>
        <p:spPr>
          <a:xfrm>
            <a:off x="3063240" y="6153912"/>
            <a:ext cx="6080760" cy="310896"/>
          </a:xfrm>
          <a:prstGeom prst="roundRect">
            <a:avLst>
              <a:gd fmla="val 16667" name="adj"/>
            </a:avLst>
          </a:prstGeom>
          <a:solidFill>
            <a:srgbClr val="DCE4F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22"/>
          <p:cNvSpPr txBox="1"/>
          <p:nvPr/>
        </p:nvSpPr>
        <p:spPr>
          <a:xfrm>
            <a:off x="3081528" y="6163056"/>
            <a:ext cx="6044184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18275B"/>
                </a:solidFill>
                <a:latin typeface="Arial"/>
                <a:ea typeface="Arial"/>
                <a:cs typeface="Arial"/>
                <a:sym typeface="Arial"/>
              </a:rPr>
              <a:t>3 COURSES  •  3 CERTIFICATES  •  CISCO NETWORKING ACADEMY</a:t>
            </a:r>
            <a:endParaRPr/>
          </a:p>
        </p:txBody>
      </p:sp>
      <p:sp>
        <p:nvSpPr>
          <p:cNvPr id="444" name="Google Shape;444;p22"/>
          <p:cNvSpPr txBox="1"/>
          <p:nvPr/>
        </p:nvSpPr>
        <p:spPr>
          <a:xfrm>
            <a:off x="457200" y="6473952"/>
            <a:ext cx="6858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Cisco Networking Academy Training  •  Ankush Raj</a:t>
            </a:r>
            <a:endParaRPr/>
          </a:p>
        </p:txBody>
      </p:sp>
      <p:sp>
        <p:nvSpPr>
          <p:cNvPr id="445" name="Google Shape;445;p22"/>
          <p:cNvSpPr txBox="1"/>
          <p:nvPr/>
        </p:nvSpPr>
        <p:spPr>
          <a:xfrm>
            <a:off x="11247120" y="6428232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2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EFF3F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23"/>
          <p:cNvSpPr txBox="1"/>
          <p:nvPr/>
        </p:nvSpPr>
        <p:spPr>
          <a:xfrm>
            <a:off x="594360" y="347472"/>
            <a:ext cx="4114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E0B02C"/>
                </a:solidFill>
                <a:latin typeface="Arial"/>
                <a:ea typeface="Arial"/>
                <a:cs typeface="Arial"/>
                <a:sym typeface="Arial"/>
              </a:rPr>
              <a:t>REFERENCES</a:t>
            </a:r>
            <a:endParaRPr/>
          </a:p>
        </p:txBody>
      </p:sp>
      <p:sp>
        <p:nvSpPr>
          <p:cNvPr id="452" name="Google Shape;452;p23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8275B"/>
                </a:solidFill>
                <a:latin typeface="Georgia"/>
                <a:ea typeface="Georgia"/>
                <a:cs typeface="Georgia"/>
                <a:sym typeface="Georgia"/>
              </a:rPr>
              <a:t>Official Course Sources</a:t>
            </a:r>
            <a:endParaRPr/>
          </a:p>
        </p:txBody>
      </p:sp>
      <p:sp>
        <p:nvSpPr>
          <p:cNvPr id="453" name="Google Shape;453;p23"/>
          <p:cNvSpPr txBox="1"/>
          <p:nvPr/>
        </p:nvSpPr>
        <p:spPr>
          <a:xfrm>
            <a:off x="621792" y="1280160"/>
            <a:ext cx="10789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Cisco Networking Academy references used for the course descriptions</a:t>
            </a:r>
            <a:endParaRPr/>
          </a:p>
        </p:txBody>
      </p:sp>
      <p:sp>
        <p:nvSpPr>
          <p:cNvPr id="454" name="Google Shape;454;p23"/>
          <p:cNvSpPr/>
          <p:nvPr/>
        </p:nvSpPr>
        <p:spPr>
          <a:xfrm>
            <a:off x="658368" y="1783080"/>
            <a:ext cx="10835640" cy="8412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AE0E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23"/>
          <p:cNvSpPr/>
          <p:nvPr/>
        </p:nvSpPr>
        <p:spPr>
          <a:xfrm>
            <a:off x="822959" y="1938528"/>
            <a:ext cx="411480" cy="411480"/>
          </a:xfrm>
          <a:prstGeom prst="roundRect">
            <a:avLst>
              <a:gd fmla="val 16667" name="adj"/>
            </a:avLst>
          </a:prstGeom>
          <a:solidFill>
            <a:srgbClr val="18275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23"/>
          <p:cNvSpPr txBox="1"/>
          <p:nvPr/>
        </p:nvSpPr>
        <p:spPr>
          <a:xfrm>
            <a:off x="822959" y="1938528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457" name="Google Shape;457;p23"/>
          <p:cNvSpPr txBox="1"/>
          <p:nvPr/>
        </p:nvSpPr>
        <p:spPr>
          <a:xfrm>
            <a:off x="1371600" y="1929384"/>
            <a:ext cx="9939528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70" u="none" cap="none" strike="noStrike">
                <a:solidFill>
                  <a:srgbClr val="232A3A"/>
                </a:solidFill>
                <a:latin typeface="Arial"/>
                <a:ea typeface="Arial"/>
                <a:cs typeface="Arial"/>
                <a:sym typeface="Arial"/>
              </a:rPr>
              <a:t>Networking Basics</a:t>
            </a:r>
            <a:endParaRPr/>
          </a:p>
        </p:txBody>
      </p:sp>
      <p:sp>
        <p:nvSpPr>
          <p:cNvPr id="458" name="Google Shape;458;p23"/>
          <p:cNvSpPr txBox="1"/>
          <p:nvPr/>
        </p:nvSpPr>
        <p:spPr>
          <a:xfrm>
            <a:off x="1371600" y="2350008"/>
            <a:ext cx="9939528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9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Cisco Networking Academy course information</a:t>
            </a:r>
            <a:endParaRPr/>
          </a:p>
        </p:txBody>
      </p:sp>
      <p:sp>
        <p:nvSpPr>
          <p:cNvPr id="459" name="Google Shape;459;p23"/>
          <p:cNvSpPr txBox="1"/>
          <p:nvPr/>
        </p:nvSpPr>
        <p:spPr>
          <a:xfrm>
            <a:off x="4892040" y="2295144"/>
            <a:ext cx="6080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20" u="none" cap="none" strike="noStrike">
                <a:solidFill>
                  <a:srgbClr val="18275B"/>
                </a:solidFill>
                <a:latin typeface="Arial"/>
                <a:ea typeface="Arial"/>
                <a:cs typeface="Arial"/>
                <a:sym typeface="Arial"/>
              </a:rPr>
              <a:t>netacad.com • Networking Basics</a:t>
            </a:r>
            <a:endParaRPr/>
          </a:p>
        </p:txBody>
      </p:sp>
      <p:sp>
        <p:nvSpPr>
          <p:cNvPr id="460" name="Google Shape;460;p23"/>
          <p:cNvSpPr/>
          <p:nvPr/>
        </p:nvSpPr>
        <p:spPr>
          <a:xfrm>
            <a:off x="658368" y="2816352"/>
            <a:ext cx="10835640" cy="8412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AE0E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23"/>
          <p:cNvSpPr/>
          <p:nvPr/>
        </p:nvSpPr>
        <p:spPr>
          <a:xfrm>
            <a:off x="822959" y="2971800"/>
            <a:ext cx="411480" cy="411480"/>
          </a:xfrm>
          <a:prstGeom prst="roundRect">
            <a:avLst>
              <a:gd fmla="val 16667" name="adj"/>
            </a:avLst>
          </a:prstGeom>
          <a:solidFill>
            <a:srgbClr val="18275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23"/>
          <p:cNvSpPr txBox="1"/>
          <p:nvPr/>
        </p:nvSpPr>
        <p:spPr>
          <a:xfrm>
            <a:off x="822959" y="297180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463" name="Google Shape;463;p23"/>
          <p:cNvSpPr txBox="1"/>
          <p:nvPr/>
        </p:nvSpPr>
        <p:spPr>
          <a:xfrm>
            <a:off x="1371600" y="2962656"/>
            <a:ext cx="9939528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70" u="none" cap="none" strike="noStrike">
                <a:solidFill>
                  <a:srgbClr val="232A3A"/>
                </a:solidFill>
                <a:latin typeface="Arial"/>
                <a:ea typeface="Arial"/>
                <a:cs typeface="Arial"/>
                <a:sym typeface="Arial"/>
              </a:rPr>
              <a:t>Introduction to Cybersecurity</a:t>
            </a:r>
            <a:endParaRPr/>
          </a:p>
        </p:txBody>
      </p:sp>
      <p:sp>
        <p:nvSpPr>
          <p:cNvPr id="464" name="Google Shape;464;p23"/>
          <p:cNvSpPr txBox="1"/>
          <p:nvPr/>
        </p:nvSpPr>
        <p:spPr>
          <a:xfrm>
            <a:off x="1371600" y="3383280"/>
            <a:ext cx="9939528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9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Cisco Networking Academy course information</a:t>
            </a:r>
            <a:endParaRPr/>
          </a:p>
        </p:txBody>
      </p:sp>
      <p:sp>
        <p:nvSpPr>
          <p:cNvPr id="465" name="Google Shape;465;p23"/>
          <p:cNvSpPr txBox="1"/>
          <p:nvPr/>
        </p:nvSpPr>
        <p:spPr>
          <a:xfrm>
            <a:off x="4892040" y="3328416"/>
            <a:ext cx="6080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20" u="none" cap="none" strike="noStrike">
                <a:solidFill>
                  <a:srgbClr val="18275B"/>
                </a:solidFill>
                <a:latin typeface="Arial"/>
                <a:ea typeface="Arial"/>
                <a:cs typeface="Arial"/>
                <a:sym typeface="Arial"/>
              </a:rPr>
              <a:t>netacad.com • Introduction to Cybersecurity</a:t>
            </a:r>
            <a:endParaRPr/>
          </a:p>
        </p:txBody>
      </p:sp>
      <p:sp>
        <p:nvSpPr>
          <p:cNvPr id="466" name="Google Shape;466;p23"/>
          <p:cNvSpPr/>
          <p:nvPr/>
        </p:nvSpPr>
        <p:spPr>
          <a:xfrm>
            <a:off x="658368" y="3849624"/>
            <a:ext cx="10835640" cy="8412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AE0E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23"/>
          <p:cNvSpPr/>
          <p:nvPr/>
        </p:nvSpPr>
        <p:spPr>
          <a:xfrm>
            <a:off x="822959" y="4005072"/>
            <a:ext cx="411480" cy="411480"/>
          </a:xfrm>
          <a:prstGeom prst="roundRect">
            <a:avLst>
              <a:gd fmla="val 16667" name="adj"/>
            </a:avLst>
          </a:prstGeom>
          <a:solidFill>
            <a:srgbClr val="18275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23"/>
          <p:cNvSpPr txBox="1"/>
          <p:nvPr/>
        </p:nvSpPr>
        <p:spPr>
          <a:xfrm>
            <a:off x="822959" y="4005072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469" name="Google Shape;469;p23"/>
          <p:cNvSpPr txBox="1"/>
          <p:nvPr/>
        </p:nvSpPr>
        <p:spPr>
          <a:xfrm>
            <a:off x="1371600" y="3995928"/>
            <a:ext cx="9939528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70" u="none" cap="none" strike="noStrike">
                <a:solidFill>
                  <a:srgbClr val="232A3A"/>
                </a:solidFill>
                <a:latin typeface="Arial"/>
                <a:ea typeface="Arial"/>
                <a:cs typeface="Arial"/>
                <a:sym typeface="Arial"/>
              </a:rPr>
              <a:t>Introduction to IoT &amp; Digital Transformation</a:t>
            </a:r>
            <a:endParaRPr/>
          </a:p>
        </p:txBody>
      </p:sp>
      <p:sp>
        <p:nvSpPr>
          <p:cNvPr id="470" name="Google Shape;470;p23"/>
          <p:cNvSpPr txBox="1"/>
          <p:nvPr/>
        </p:nvSpPr>
        <p:spPr>
          <a:xfrm>
            <a:off x="1371600" y="4416552"/>
            <a:ext cx="9939528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9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Cisco Networking Academy course information</a:t>
            </a:r>
            <a:endParaRPr/>
          </a:p>
        </p:txBody>
      </p:sp>
      <p:sp>
        <p:nvSpPr>
          <p:cNvPr id="471" name="Google Shape;471;p23"/>
          <p:cNvSpPr txBox="1"/>
          <p:nvPr/>
        </p:nvSpPr>
        <p:spPr>
          <a:xfrm>
            <a:off x="4892040" y="4361688"/>
            <a:ext cx="6080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20" u="none" cap="none" strike="noStrike">
                <a:solidFill>
                  <a:srgbClr val="18275B"/>
                </a:solidFill>
                <a:latin typeface="Arial"/>
                <a:ea typeface="Arial"/>
                <a:cs typeface="Arial"/>
                <a:sym typeface="Arial"/>
              </a:rPr>
              <a:t>netacad.com • Introduction to IoT</a:t>
            </a:r>
            <a:endParaRPr/>
          </a:p>
        </p:txBody>
      </p:sp>
      <p:sp>
        <p:nvSpPr>
          <p:cNvPr id="472" name="Google Shape;472;p23"/>
          <p:cNvSpPr/>
          <p:nvPr/>
        </p:nvSpPr>
        <p:spPr>
          <a:xfrm>
            <a:off x="658368" y="4882896"/>
            <a:ext cx="10835640" cy="8412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AE0E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23"/>
          <p:cNvSpPr/>
          <p:nvPr/>
        </p:nvSpPr>
        <p:spPr>
          <a:xfrm>
            <a:off x="822959" y="5038344"/>
            <a:ext cx="411480" cy="411480"/>
          </a:xfrm>
          <a:prstGeom prst="roundRect">
            <a:avLst>
              <a:gd fmla="val 16667" name="adj"/>
            </a:avLst>
          </a:prstGeom>
          <a:solidFill>
            <a:srgbClr val="18275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23"/>
          <p:cNvSpPr txBox="1"/>
          <p:nvPr/>
        </p:nvSpPr>
        <p:spPr>
          <a:xfrm>
            <a:off x="822959" y="5038344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475" name="Google Shape;475;p23"/>
          <p:cNvSpPr txBox="1"/>
          <p:nvPr/>
        </p:nvSpPr>
        <p:spPr>
          <a:xfrm>
            <a:off x="1371600" y="5029200"/>
            <a:ext cx="9939528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70" u="none" cap="none" strike="noStrike">
                <a:solidFill>
                  <a:srgbClr val="232A3A"/>
                </a:solidFill>
                <a:latin typeface="Arial"/>
                <a:ea typeface="Arial"/>
                <a:cs typeface="Arial"/>
                <a:sym typeface="Arial"/>
              </a:rPr>
              <a:t>Cisco Course Catalog</a:t>
            </a:r>
            <a:endParaRPr/>
          </a:p>
        </p:txBody>
      </p:sp>
      <p:sp>
        <p:nvSpPr>
          <p:cNvPr id="476" name="Google Shape;476;p23"/>
          <p:cNvSpPr txBox="1"/>
          <p:nvPr/>
        </p:nvSpPr>
        <p:spPr>
          <a:xfrm>
            <a:off x="1371600" y="5449824"/>
            <a:ext cx="9939528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9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Cisco Public Course Catalog, January 2024</a:t>
            </a:r>
            <a:endParaRPr/>
          </a:p>
        </p:txBody>
      </p:sp>
      <p:sp>
        <p:nvSpPr>
          <p:cNvPr id="477" name="Google Shape;477;p23"/>
          <p:cNvSpPr txBox="1"/>
          <p:nvPr/>
        </p:nvSpPr>
        <p:spPr>
          <a:xfrm>
            <a:off x="4892040" y="5394960"/>
            <a:ext cx="6080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20" u="none" cap="none" strike="noStrike">
                <a:solidFill>
                  <a:srgbClr val="18275B"/>
                </a:solidFill>
                <a:latin typeface="Arial"/>
                <a:ea typeface="Arial"/>
                <a:cs typeface="Arial"/>
                <a:sym typeface="Arial"/>
              </a:rPr>
              <a:t>netacad.com • Course Catalog</a:t>
            </a:r>
            <a:endParaRPr/>
          </a:p>
        </p:txBody>
      </p:sp>
      <p:sp>
        <p:nvSpPr>
          <p:cNvPr id="478" name="Google Shape;478;p23"/>
          <p:cNvSpPr txBox="1"/>
          <p:nvPr/>
        </p:nvSpPr>
        <p:spPr>
          <a:xfrm>
            <a:off x="685800" y="5961888"/>
            <a:ext cx="10789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3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Course descriptions are based on Cisco's published course information; certificate dates and IDs are taken from the certificates included in this presentation.</a:t>
            </a:r>
            <a:endParaRPr/>
          </a:p>
        </p:txBody>
      </p:sp>
      <p:sp>
        <p:nvSpPr>
          <p:cNvPr id="479" name="Google Shape;479;p23"/>
          <p:cNvSpPr txBox="1"/>
          <p:nvPr/>
        </p:nvSpPr>
        <p:spPr>
          <a:xfrm>
            <a:off x="457200" y="6473952"/>
            <a:ext cx="6858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Cisco Networking Academy Training  •  Ankush Raj</a:t>
            </a:r>
            <a:endParaRPr/>
          </a:p>
        </p:txBody>
      </p:sp>
      <p:sp>
        <p:nvSpPr>
          <p:cNvPr id="480" name="Google Shape;480;p23"/>
          <p:cNvSpPr txBox="1"/>
          <p:nvPr/>
        </p:nvSpPr>
        <p:spPr>
          <a:xfrm>
            <a:off x="11247120" y="6428232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24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8275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24"/>
          <p:cNvSpPr/>
          <p:nvPr/>
        </p:nvSpPr>
        <p:spPr>
          <a:xfrm>
            <a:off x="9281160" y="60750"/>
            <a:ext cx="2926200" cy="2926200"/>
          </a:xfrm>
          <a:prstGeom prst="roundRect">
            <a:avLst>
              <a:gd fmla="val 16667" name="adj"/>
            </a:avLst>
          </a:prstGeom>
          <a:solidFill>
            <a:srgbClr val="1F347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24"/>
          <p:cNvSpPr/>
          <p:nvPr/>
        </p:nvSpPr>
        <p:spPr>
          <a:xfrm>
            <a:off x="8915400" y="5074920"/>
            <a:ext cx="2286000" cy="2286000"/>
          </a:xfrm>
          <a:prstGeom prst="roundRect">
            <a:avLst>
              <a:gd fmla="val 16667" name="adj"/>
            </a:avLst>
          </a:prstGeom>
          <a:solidFill>
            <a:srgbClr val="1F347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24"/>
          <p:cNvSpPr/>
          <p:nvPr/>
        </p:nvSpPr>
        <p:spPr>
          <a:xfrm>
            <a:off x="-5" y="4526270"/>
            <a:ext cx="2377500" cy="2377500"/>
          </a:xfrm>
          <a:prstGeom prst="roundRect">
            <a:avLst>
              <a:gd fmla="val 16667" name="adj"/>
            </a:avLst>
          </a:prstGeom>
          <a:solidFill>
            <a:srgbClr val="1F347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24"/>
          <p:cNvSpPr txBox="1"/>
          <p:nvPr/>
        </p:nvSpPr>
        <p:spPr>
          <a:xfrm>
            <a:off x="777240" y="1874519"/>
            <a:ext cx="106070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THANK YOU</a:t>
            </a:r>
            <a:endParaRPr/>
          </a:p>
        </p:txBody>
      </p:sp>
      <p:sp>
        <p:nvSpPr>
          <p:cNvPr id="490" name="Google Shape;490;p24"/>
          <p:cNvSpPr txBox="1"/>
          <p:nvPr/>
        </p:nvSpPr>
        <p:spPr>
          <a:xfrm>
            <a:off x="2103120" y="2788920"/>
            <a:ext cx="8001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Cisco Networking Academy Training</a:t>
            </a:r>
            <a:endParaRPr/>
          </a:p>
        </p:txBody>
      </p:sp>
      <p:sp>
        <p:nvSpPr>
          <p:cNvPr id="491" name="Google Shape;491;p24"/>
          <p:cNvSpPr txBox="1"/>
          <p:nvPr/>
        </p:nvSpPr>
        <p:spPr>
          <a:xfrm>
            <a:off x="1737360" y="3383280"/>
            <a:ext cx="8732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D5DDF2"/>
                </a:solidFill>
                <a:latin typeface="Arial"/>
                <a:ea typeface="Arial"/>
                <a:cs typeface="Arial"/>
                <a:sym typeface="Arial"/>
              </a:rPr>
              <a:t>Networking Basics  •  Cybersecurity  •  IoT &amp; Digital Transformation</a:t>
            </a:r>
            <a:endParaRPr/>
          </a:p>
        </p:txBody>
      </p:sp>
      <p:sp>
        <p:nvSpPr>
          <p:cNvPr id="492" name="Google Shape;492;p24"/>
          <p:cNvSpPr txBox="1"/>
          <p:nvPr/>
        </p:nvSpPr>
        <p:spPr>
          <a:xfrm>
            <a:off x="2926080" y="4846320"/>
            <a:ext cx="6355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ANKUSH RAJ  |  Roll No. 2410031647</a:t>
            </a:r>
            <a:b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B.Tech CSE  •  IILM University, Greater Noida</a:t>
            </a:r>
            <a:endParaRPr/>
          </a:p>
        </p:txBody>
      </p:sp>
      <p:sp>
        <p:nvSpPr>
          <p:cNvPr id="493" name="Google Shape;493;p24"/>
          <p:cNvSpPr txBox="1"/>
          <p:nvPr/>
        </p:nvSpPr>
        <p:spPr>
          <a:xfrm>
            <a:off x="457200" y="6473952"/>
            <a:ext cx="6858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C4CDE5"/>
                </a:solidFill>
                <a:latin typeface="Arial"/>
                <a:ea typeface="Arial"/>
                <a:cs typeface="Arial"/>
                <a:sym typeface="Arial"/>
              </a:rPr>
              <a:t>Cisco Networking Academy Training  •  Ankush Raj</a:t>
            </a:r>
            <a:endParaRPr/>
          </a:p>
        </p:txBody>
      </p:sp>
      <p:sp>
        <p:nvSpPr>
          <p:cNvPr id="494" name="Google Shape;494;p24"/>
          <p:cNvSpPr txBox="1"/>
          <p:nvPr/>
        </p:nvSpPr>
        <p:spPr>
          <a:xfrm>
            <a:off x="11247120" y="6428232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C4CDE5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/>
          </a:p>
        </p:txBody>
      </p:sp>
      <p:pic>
        <p:nvPicPr>
          <p:cNvPr id="495" name="Google Shape;49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94038" y="973825"/>
            <a:ext cx="819150" cy="80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